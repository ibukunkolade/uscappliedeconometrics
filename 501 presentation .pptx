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y="5143500" cx="9144000"/>
  <p:notesSz cx="6858000" cy="9144000"/>
  <p:embeddedFontLst>
    <p:embeddedFont>
      <p:font typeface="Arial Black"/>
      <p:regular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5" roundtripDataSignature="AMtx7mg+tVfkIDI8t7vjLfFT6cJqrnMiF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customschemas.google.com/relationships/presentationmetadata" Target="metadata"/><Relationship Id="rId12" Type="http://schemas.openxmlformats.org/officeDocument/2006/relationships/slide" Target="slides/slide6.xml"/><Relationship Id="rId34" Type="http://schemas.openxmlformats.org/officeDocument/2006/relationships/font" Target="fonts/ArialBlack-regular.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g314e746443e_0_2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 name="Google Shape;37;g314e746443e_0_28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8" name="Google Shape;38;g314e746443e_0_28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1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3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1abb364ef2_4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 name="Google Shape;61;g31abb364ef2_4_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 name="Google Shape;67;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 name="Google Shape;73;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200000"/>
              </a:lnSpc>
              <a:spcBef>
                <a:spcPts val="0"/>
              </a:spcBef>
              <a:spcAft>
                <a:spcPts val="0"/>
              </a:spcAft>
              <a:buSzPts val="1100"/>
              <a:buFont typeface="Arial"/>
              <a:buNone/>
            </a:pPr>
            <a:r>
              <a:t/>
            </a:r>
            <a:endParaRPr b="1" i="0" u="none" strike="noStrike">
              <a:solidFill>
                <a:srgbClr val="0D0D0D"/>
              </a:solidFill>
              <a:latin typeface="Times New Roman"/>
              <a:ea typeface="Times New Roman"/>
              <a:cs typeface="Times New Roman"/>
              <a:sym typeface="Times New Roman"/>
            </a:endParaRPr>
          </a:p>
          <a:p>
            <a:pPr indent="-228600" lvl="0" marL="457200" rtl="0" algn="l">
              <a:lnSpc>
                <a:spcPct val="200000"/>
              </a:lnSpc>
              <a:spcBef>
                <a:spcPts val="0"/>
              </a:spcBef>
              <a:spcAft>
                <a:spcPts val="0"/>
              </a:spcAft>
              <a:buSzPts val="1100"/>
              <a:buFont typeface="Arial"/>
              <a:buNone/>
            </a:pPr>
            <a:r>
              <a:t/>
            </a:r>
            <a:endParaRPr b="1" i="0" u="none" strike="noStrike">
              <a:solidFill>
                <a:srgbClr val="0D0D0D"/>
              </a:solidFill>
              <a:latin typeface="Times New Roman"/>
              <a:ea typeface="Times New Roman"/>
              <a:cs typeface="Times New Roman"/>
              <a:sym typeface="Times New Roman"/>
            </a:endParaRPr>
          </a:p>
          <a:p>
            <a:pPr indent="-298450" lvl="0" marL="457200" rtl="0" algn="l">
              <a:lnSpc>
                <a:spcPct val="200000"/>
              </a:lnSpc>
              <a:spcBef>
                <a:spcPts val="0"/>
              </a:spcBef>
              <a:spcAft>
                <a:spcPts val="0"/>
              </a:spcAft>
              <a:buSzPts val="1100"/>
              <a:buFont typeface="Arial"/>
              <a:buChar char="•"/>
            </a:pPr>
            <a:r>
              <a:rPr b="1" i="0" lang="en-US" u="none" strike="noStrike">
                <a:solidFill>
                  <a:srgbClr val="0D0D0D"/>
                </a:solidFill>
                <a:latin typeface="Times New Roman"/>
                <a:ea typeface="Times New Roman"/>
                <a:cs typeface="Times New Roman"/>
                <a:sym typeface="Times New Roman"/>
              </a:rPr>
              <a:t>Jaravel (2020)</a:t>
            </a:r>
            <a:r>
              <a:rPr b="0" i="0" lang="en-US" u="none" strike="noStrike">
                <a:solidFill>
                  <a:srgbClr val="0D0D0D"/>
                </a:solidFill>
                <a:latin typeface="Times New Roman"/>
                <a:ea typeface="Times New Roman"/>
                <a:cs typeface="Times New Roman"/>
                <a:sym typeface="Times New Roman"/>
              </a:rPr>
              <a:t>: </a:t>
            </a:r>
            <a:r>
              <a:rPr b="0" i="1" lang="en-US" u="none" strike="noStrike">
                <a:solidFill>
                  <a:srgbClr val="0D0D0D"/>
                </a:solidFill>
                <a:latin typeface="Times New Roman"/>
                <a:ea typeface="Times New Roman"/>
                <a:cs typeface="Times New Roman"/>
                <a:sym typeface="Times New Roman"/>
              </a:rPr>
              <a:t>Inflation Inequality: Measurement, Causes, and Policy Implications</a:t>
            </a:r>
            <a:endParaRPr b="0" i="0" u="none" strike="noStrike">
              <a:solidFill>
                <a:srgbClr val="0D0D0D"/>
              </a:solidFill>
              <a:latin typeface="Times New Roman"/>
              <a:ea typeface="Times New Roman"/>
              <a:cs typeface="Times New Roman"/>
              <a:sym typeface="Times New Roman"/>
            </a:endParaRPr>
          </a:p>
          <a:p>
            <a:pPr indent="-285750" lvl="1" marL="742950" rtl="0" algn="l">
              <a:lnSpc>
                <a:spcPct val="200000"/>
              </a:lnSpc>
              <a:spcBef>
                <a:spcPts val="0"/>
              </a:spcBef>
              <a:spcAft>
                <a:spcPts val="0"/>
              </a:spcAft>
              <a:buSzPts val="1100"/>
              <a:buFont typeface="Arial"/>
              <a:buChar char="•"/>
            </a:pPr>
            <a:r>
              <a:rPr b="0" i="0" lang="en-US" u="none" strike="noStrike">
                <a:solidFill>
                  <a:srgbClr val="0D0D0D"/>
                </a:solidFill>
                <a:latin typeface="Times New Roman"/>
                <a:ea typeface="Times New Roman"/>
                <a:cs typeface="Times New Roman"/>
                <a:sym typeface="Times New Roman"/>
              </a:rPr>
              <a:t>Jaravel discusses how inflation affects different income groups unevenly. Lower-income households face more inflation because they spend a larger share of their income on necessities like food, energy, and housing. This research is relevant for estimating regional differences in inflation and their income effects across the U.S.</a:t>
            </a:r>
            <a:endParaRPr/>
          </a:p>
          <a:p>
            <a:pPr indent="-228600" lvl="0" marL="457200" rtl="0" algn="l">
              <a:lnSpc>
                <a:spcPct val="200000"/>
              </a:lnSpc>
              <a:spcBef>
                <a:spcPts val="0"/>
              </a:spcBef>
              <a:spcAft>
                <a:spcPts val="0"/>
              </a:spcAft>
              <a:buSzPts val="1100"/>
              <a:buFont typeface="Arial"/>
              <a:buNone/>
            </a:pPr>
            <a:r>
              <a:t/>
            </a:r>
            <a:endParaRPr b="1" i="0" u="none" strike="noStrike">
              <a:solidFill>
                <a:srgbClr val="0D0D0D"/>
              </a:solidFill>
              <a:latin typeface="Times New Roman"/>
              <a:ea typeface="Times New Roman"/>
              <a:cs typeface="Times New Roman"/>
              <a:sym typeface="Times New Roman"/>
            </a:endParaRPr>
          </a:p>
          <a:p>
            <a:pPr indent="-298450" lvl="0" marL="457200" rtl="0" algn="l">
              <a:lnSpc>
                <a:spcPct val="200000"/>
              </a:lnSpc>
              <a:spcBef>
                <a:spcPts val="0"/>
              </a:spcBef>
              <a:spcAft>
                <a:spcPts val="0"/>
              </a:spcAft>
              <a:buSzPts val="1100"/>
              <a:buFont typeface="Arial"/>
              <a:buChar char="•"/>
            </a:pPr>
            <a:r>
              <a:rPr b="1" i="0" lang="en-US" u="none" strike="noStrike">
                <a:solidFill>
                  <a:srgbClr val="0D0D0D"/>
                </a:solidFill>
                <a:latin typeface="Times New Roman"/>
                <a:ea typeface="Times New Roman"/>
                <a:cs typeface="Times New Roman"/>
                <a:sym typeface="Times New Roman"/>
              </a:rPr>
              <a:t>Adjemian et al. (2023)</a:t>
            </a:r>
            <a:r>
              <a:rPr b="0" i="0" lang="en-US" u="none" strike="noStrike">
                <a:solidFill>
                  <a:srgbClr val="0D0D0D"/>
                </a:solidFill>
                <a:latin typeface="Times New Roman"/>
                <a:ea typeface="Times New Roman"/>
                <a:cs typeface="Times New Roman"/>
                <a:sym typeface="Times New Roman"/>
              </a:rPr>
              <a:t>: </a:t>
            </a:r>
            <a:r>
              <a:rPr b="0" i="1" lang="en-US" u="none" strike="noStrike">
                <a:solidFill>
                  <a:srgbClr val="0D0D0D"/>
                </a:solidFill>
                <a:latin typeface="Times New Roman"/>
                <a:ea typeface="Times New Roman"/>
                <a:cs typeface="Times New Roman"/>
                <a:sym typeface="Times New Roman"/>
              </a:rPr>
              <a:t>Factors Affecting Recent Food Price Inflation in the United States</a:t>
            </a:r>
            <a:endParaRPr b="0" i="0" u="none" strike="noStrike">
              <a:solidFill>
                <a:srgbClr val="0D0D0D"/>
              </a:solidFill>
              <a:latin typeface="Times New Roman"/>
              <a:ea typeface="Times New Roman"/>
              <a:cs typeface="Times New Roman"/>
              <a:sym typeface="Times New Roman"/>
            </a:endParaRPr>
          </a:p>
          <a:p>
            <a:pPr indent="-285750" lvl="1" marL="742950" rtl="0" algn="l">
              <a:lnSpc>
                <a:spcPct val="200000"/>
              </a:lnSpc>
              <a:spcBef>
                <a:spcPts val="0"/>
              </a:spcBef>
              <a:spcAft>
                <a:spcPts val="0"/>
              </a:spcAft>
              <a:buSzPts val="1100"/>
              <a:buFont typeface="Arial"/>
              <a:buChar char="•"/>
            </a:pPr>
            <a:r>
              <a:rPr b="0" i="0" lang="en-US" u="none" strike="noStrike">
                <a:solidFill>
                  <a:srgbClr val="0D0D0D"/>
                </a:solidFill>
                <a:latin typeface="Times New Roman"/>
                <a:ea typeface="Times New Roman"/>
                <a:cs typeface="Times New Roman"/>
                <a:sym typeface="Times New Roman"/>
              </a:rPr>
              <a:t>Adjemian explores the causes behind the U.S. inflation surge since 2021, including supply chain disruptions, fiscal stimulus, and external shocks like the Russo-Ukrainian war. This study highlights the potential impacts of these events on inflation and could help assess their effects on wage growth, particularly with the inclusion of lagged variables like the start of the COVID lockdowns.</a:t>
            </a:r>
            <a:endParaRPr/>
          </a:p>
          <a:p>
            <a:pPr indent="-215900" lvl="1" marL="742950" rtl="0" algn="l">
              <a:lnSpc>
                <a:spcPct val="200000"/>
              </a:lnSpc>
              <a:spcBef>
                <a:spcPts val="0"/>
              </a:spcBef>
              <a:spcAft>
                <a:spcPts val="0"/>
              </a:spcAft>
              <a:buSzPts val="1100"/>
              <a:buFont typeface="Arial"/>
              <a:buNone/>
            </a:pPr>
            <a:r>
              <a:t/>
            </a:r>
            <a:endParaRPr b="0" i="0" u="none" strike="noStrike">
              <a:solidFill>
                <a:srgbClr val="0D0D0D"/>
              </a:solidFill>
              <a:latin typeface="Times New Roman"/>
              <a:ea typeface="Times New Roman"/>
              <a:cs typeface="Times New Roman"/>
              <a:sym typeface="Times New Roman"/>
            </a:endParaRPr>
          </a:p>
          <a:p>
            <a:pPr indent="-298450" lvl="0" marL="457200" rtl="0" algn="l">
              <a:lnSpc>
                <a:spcPct val="200000"/>
              </a:lnSpc>
              <a:spcBef>
                <a:spcPts val="0"/>
              </a:spcBef>
              <a:spcAft>
                <a:spcPts val="0"/>
              </a:spcAft>
              <a:buSzPts val="1100"/>
              <a:buFont typeface="Arial"/>
              <a:buChar char="•"/>
            </a:pPr>
            <a:r>
              <a:rPr b="1" i="0" lang="en-US" u="none" strike="noStrike">
                <a:solidFill>
                  <a:srgbClr val="0D0D0D"/>
                </a:solidFill>
                <a:latin typeface="Times New Roman"/>
                <a:ea typeface="Times New Roman"/>
                <a:cs typeface="Times New Roman"/>
                <a:sym typeface="Times New Roman"/>
              </a:rPr>
              <a:t>Schmitt-Grohé &amp; Uribe (2022)</a:t>
            </a:r>
            <a:r>
              <a:rPr b="0" i="0" lang="en-US" u="none" strike="noStrike">
                <a:solidFill>
                  <a:srgbClr val="0D0D0D"/>
                </a:solidFill>
                <a:latin typeface="Times New Roman"/>
                <a:ea typeface="Times New Roman"/>
                <a:cs typeface="Times New Roman"/>
                <a:sym typeface="Times New Roman"/>
              </a:rPr>
              <a:t>: </a:t>
            </a:r>
            <a:r>
              <a:rPr b="0" i="1" lang="en-US" u="none" strike="noStrike">
                <a:solidFill>
                  <a:srgbClr val="0D0D0D"/>
                </a:solidFill>
                <a:latin typeface="Times New Roman"/>
                <a:ea typeface="Times New Roman"/>
                <a:cs typeface="Times New Roman"/>
                <a:sym typeface="Times New Roman"/>
              </a:rPr>
              <a:t>Multiple Equilibria in Open Economies with Collateral Constraints</a:t>
            </a:r>
            <a:endParaRPr b="0" i="0" u="none" strike="noStrike">
              <a:solidFill>
                <a:srgbClr val="0D0D0D"/>
              </a:solidFill>
              <a:latin typeface="Times New Roman"/>
              <a:ea typeface="Times New Roman"/>
              <a:cs typeface="Times New Roman"/>
              <a:sym typeface="Times New Roman"/>
            </a:endParaRPr>
          </a:p>
          <a:p>
            <a:pPr indent="-285750" lvl="1" marL="742950" rtl="0" algn="l">
              <a:lnSpc>
                <a:spcPct val="200000"/>
              </a:lnSpc>
              <a:spcBef>
                <a:spcPts val="0"/>
              </a:spcBef>
              <a:spcAft>
                <a:spcPts val="0"/>
              </a:spcAft>
              <a:buSzPts val="1100"/>
              <a:buFont typeface="Arial"/>
              <a:buChar char="•"/>
            </a:pPr>
            <a:r>
              <a:rPr b="0" i="0" lang="en-US" u="none" strike="noStrike">
                <a:solidFill>
                  <a:srgbClr val="0D0D0D"/>
                </a:solidFill>
                <a:latin typeface="Times New Roman"/>
                <a:ea typeface="Times New Roman"/>
                <a:cs typeface="Times New Roman"/>
                <a:sym typeface="Times New Roman"/>
              </a:rPr>
              <a:t>This study investigates the dynamics of inflation from 1900 to 2021, emphasizing the permanent component of inflation. Schmitt-Grohé and Uribe examine how inflation affects wage growth, particularly in the context of middle-income households, whose wages have not kept up with inflation’s rising costs. The study also highlights regional differences in inflation's effects, making it particularly relevant for understanding the varying rates of wage growth across U.S. regions.</a:t>
            </a:r>
            <a:endParaRPr/>
          </a:p>
          <a:p>
            <a:pPr indent="-215900" lvl="1" marL="742950" rtl="0" algn="l">
              <a:lnSpc>
                <a:spcPct val="200000"/>
              </a:lnSpc>
              <a:spcBef>
                <a:spcPts val="0"/>
              </a:spcBef>
              <a:spcAft>
                <a:spcPts val="0"/>
              </a:spcAft>
              <a:buSzPts val="1100"/>
              <a:buFont typeface="Arial"/>
              <a:buNone/>
            </a:pPr>
            <a:r>
              <a:t/>
            </a:r>
            <a:endParaRPr b="0" i="0" u="none" strike="noStrike">
              <a:solidFill>
                <a:srgbClr val="0D0D0D"/>
              </a:solidFill>
              <a:latin typeface="Times New Roman"/>
              <a:ea typeface="Times New Roman"/>
              <a:cs typeface="Times New Roman"/>
              <a:sym typeface="Times New Roman"/>
            </a:endParaRPr>
          </a:p>
          <a:p>
            <a:pPr indent="-215900" lvl="1" marL="742950" rtl="0" algn="l">
              <a:lnSpc>
                <a:spcPct val="200000"/>
              </a:lnSpc>
              <a:spcBef>
                <a:spcPts val="0"/>
              </a:spcBef>
              <a:spcAft>
                <a:spcPts val="0"/>
              </a:spcAft>
              <a:buSzPts val="1100"/>
              <a:buFont typeface="Arial"/>
              <a:buNone/>
            </a:pPr>
            <a:r>
              <a:t/>
            </a:r>
            <a:endParaRPr b="0" i="0" u="none" strike="noStrike">
              <a:solidFill>
                <a:srgbClr val="0D0D0D"/>
              </a:solidFill>
              <a:latin typeface="Times New Roman"/>
              <a:ea typeface="Times New Roman"/>
              <a:cs typeface="Times New Roman"/>
              <a:sym typeface="Times New Roman"/>
            </a:endParaRPr>
          </a:p>
          <a:p>
            <a:pPr indent="-298450" lvl="0" marL="457200" rtl="0" algn="l">
              <a:lnSpc>
                <a:spcPct val="200000"/>
              </a:lnSpc>
              <a:spcBef>
                <a:spcPts val="0"/>
              </a:spcBef>
              <a:spcAft>
                <a:spcPts val="0"/>
              </a:spcAft>
              <a:buSzPts val="1100"/>
              <a:buFont typeface="Arial"/>
              <a:buChar char="•"/>
            </a:pPr>
            <a:r>
              <a:rPr b="1" i="0" lang="en-US" u="none" strike="noStrike">
                <a:solidFill>
                  <a:srgbClr val="0D0D0D"/>
                </a:solidFill>
                <a:latin typeface="Times New Roman"/>
                <a:ea typeface="Times New Roman"/>
                <a:cs typeface="Times New Roman"/>
                <a:sym typeface="Times New Roman"/>
              </a:rPr>
              <a:t>Relevance to Our Study</a:t>
            </a:r>
            <a:r>
              <a:rPr b="0" i="0" lang="en-US" u="none" strike="noStrike">
                <a:solidFill>
                  <a:srgbClr val="0D0D0D"/>
                </a:solidFill>
                <a:latin typeface="Times New Roman"/>
                <a:ea typeface="Times New Roman"/>
                <a:cs typeface="Times New Roman"/>
                <a:sym typeface="Times New Roman"/>
              </a:rPr>
              <a:t>:</a:t>
            </a:r>
            <a:endParaRPr/>
          </a:p>
          <a:p>
            <a:pPr indent="-285750" lvl="1" marL="742950" rtl="0" algn="l">
              <a:lnSpc>
                <a:spcPct val="200000"/>
              </a:lnSpc>
              <a:spcBef>
                <a:spcPts val="0"/>
              </a:spcBef>
              <a:spcAft>
                <a:spcPts val="0"/>
              </a:spcAft>
              <a:buSzPts val="1100"/>
              <a:buFont typeface="Arial"/>
              <a:buChar char="•"/>
            </a:pPr>
            <a:r>
              <a:rPr b="0" i="0" lang="en-US" u="none" strike="noStrike">
                <a:solidFill>
                  <a:srgbClr val="0D0D0D"/>
                </a:solidFill>
                <a:latin typeface="Times New Roman"/>
                <a:ea typeface="Times New Roman"/>
                <a:cs typeface="Times New Roman"/>
                <a:sym typeface="Times New Roman"/>
              </a:rPr>
              <a:t>Our analysis builds on these findings by exploring the specific impacts of inflation and unemployment on wage growth across different U.S. regions. The literature highlights significant regional disparities, and this research aims to provide deeper insights into how inflation and unemployment influence wage dynamics at the regional level. This understanding will be essential for developing targeted economic strategies to mitigate the adverse effects of inflation on wage growth.</a:t>
            </a:r>
            <a:endParaRPr/>
          </a:p>
          <a:p>
            <a:pPr indent="-215900" lvl="1" marL="742950" rtl="0" algn="l">
              <a:lnSpc>
                <a:spcPct val="200000"/>
              </a:lnSpc>
              <a:spcBef>
                <a:spcPts val="0"/>
              </a:spcBef>
              <a:spcAft>
                <a:spcPts val="0"/>
              </a:spcAft>
              <a:buSzPts val="1100"/>
              <a:buFont typeface="Arial"/>
              <a:buNone/>
            </a:pPr>
            <a:r>
              <a:t/>
            </a:r>
            <a:endParaRPr b="0" i="0" u="none" strike="noStrike">
              <a:solidFill>
                <a:srgbClr val="0D0D0D"/>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1100"/>
              <a:buNone/>
            </a:pPr>
            <a:r>
              <a:t/>
            </a:r>
            <a:endParaRPr/>
          </a:p>
        </p:txBody>
      </p:sp>
      <p:sp>
        <p:nvSpPr>
          <p:cNvPr id="79" name="Google Shape;79;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1abb364ef2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1abb364ef2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Geoff</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b="1" i="0" lang="en-US" u="none" strike="noStrike">
                <a:solidFill>
                  <a:srgbClr val="ECECEC"/>
                </a:solidFill>
                <a:latin typeface="Arial"/>
                <a:ea typeface="Arial"/>
                <a:cs typeface="Arial"/>
                <a:sym typeface="Arial"/>
              </a:rPr>
              <a:t>Exploratory Data Analysis (EDA)</a:t>
            </a:r>
            <a:endParaRPr/>
          </a:p>
          <a:p>
            <a:pPr indent="-298450" lvl="0" marL="457200" rtl="0" algn="l">
              <a:lnSpc>
                <a:spcPct val="100000"/>
              </a:lnSpc>
              <a:spcBef>
                <a:spcPts val="0"/>
              </a:spcBef>
              <a:spcAft>
                <a:spcPts val="0"/>
              </a:spcAft>
              <a:buSzPts val="1100"/>
              <a:buFont typeface="Arial"/>
              <a:buAutoNum type="arabicPeriod"/>
            </a:pPr>
            <a:r>
              <a:rPr b="1" i="0" lang="en-US" u="none" strike="noStrike">
                <a:solidFill>
                  <a:srgbClr val="ECECEC"/>
                </a:solidFill>
                <a:latin typeface="Arial"/>
                <a:ea typeface="Arial"/>
                <a:cs typeface="Arial"/>
                <a:sym typeface="Arial"/>
              </a:rPr>
              <a:t>Inflation, Unemployment, and Wage Growth Over Time</a:t>
            </a:r>
            <a:r>
              <a:rPr b="0" i="0" lang="en-US" u="none" strike="noStrike">
                <a:solidFill>
                  <a:srgbClr val="ECECEC"/>
                </a:solidFill>
                <a:latin typeface="Arial"/>
                <a:ea typeface="Arial"/>
                <a:cs typeface="Arial"/>
                <a:sym typeface="Arial"/>
              </a:rPr>
              <a:t>:</a:t>
            </a:r>
            <a:endParaRPr/>
          </a:p>
          <a:p>
            <a:pPr indent="-285750" lvl="1" marL="742950" rtl="0" algn="l">
              <a:lnSpc>
                <a:spcPct val="100000"/>
              </a:lnSpc>
              <a:spcBef>
                <a:spcPts val="0"/>
              </a:spcBef>
              <a:spcAft>
                <a:spcPts val="0"/>
              </a:spcAft>
              <a:buSzPts val="1100"/>
              <a:buFont typeface="Arial"/>
              <a:buAutoNum type="arabicPeriod"/>
            </a:pPr>
            <a:r>
              <a:rPr b="1" i="0" lang="en-US" u="none" strike="noStrike">
                <a:solidFill>
                  <a:srgbClr val="ECECEC"/>
                </a:solidFill>
                <a:latin typeface="Arial"/>
                <a:ea typeface="Arial"/>
                <a:cs typeface="Arial"/>
                <a:sym typeface="Arial"/>
              </a:rPr>
              <a:t>Visualization</a:t>
            </a:r>
            <a:r>
              <a:rPr b="0" i="0" lang="en-US" u="none" strike="noStrike">
                <a:solidFill>
                  <a:srgbClr val="ECECEC"/>
                </a:solidFill>
                <a:latin typeface="Arial"/>
                <a:ea typeface="Arial"/>
                <a:cs typeface="Arial"/>
                <a:sym typeface="Arial"/>
              </a:rPr>
              <a:t>: Line chart showing trends in inflation, unemployment, and wage growth.</a:t>
            </a:r>
            <a:endParaRPr/>
          </a:p>
          <a:p>
            <a:pPr indent="-285750" lvl="1" marL="742950" rtl="0" algn="l">
              <a:lnSpc>
                <a:spcPct val="100000"/>
              </a:lnSpc>
              <a:spcBef>
                <a:spcPts val="0"/>
              </a:spcBef>
              <a:spcAft>
                <a:spcPts val="0"/>
              </a:spcAft>
              <a:buSzPts val="1100"/>
              <a:buFont typeface="Arial"/>
              <a:buAutoNum type="arabicPeriod"/>
            </a:pPr>
            <a:r>
              <a:rPr b="1" i="0" lang="en-US" u="none" strike="noStrike">
                <a:solidFill>
                  <a:srgbClr val="ECECEC"/>
                </a:solidFill>
                <a:latin typeface="Arial"/>
                <a:ea typeface="Arial"/>
                <a:cs typeface="Arial"/>
                <a:sym typeface="Arial"/>
              </a:rPr>
              <a:t>Key Insights</a:t>
            </a:r>
            <a:r>
              <a:rPr b="0" i="0" lang="en-US" u="none" strike="noStrike">
                <a:solidFill>
                  <a:srgbClr val="ECECEC"/>
                </a:solidFill>
                <a:latin typeface="Arial"/>
                <a:ea typeface="Arial"/>
                <a:cs typeface="Arial"/>
                <a:sym typeface="Arial"/>
              </a:rPr>
              <a:t>:</a:t>
            </a:r>
            <a:endParaRPr/>
          </a:p>
          <a:p>
            <a:pPr indent="-228600" lvl="2" marL="1143000" rtl="0" algn="l">
              <a:lnSpc>
                <a:spcPct val="100000"/>
              </a:lnSpc>
              <a:spcBef>
                <a:spcPts val="0"/>
              </a:spcBef>
              <a:spcAft>
                <a:spcPts val="0"/>
              </a:spcAft>
              <a:buSzPts val="1100"/>
              <a:buFont typeface="Arial"/>
              <a:buAutoNum type="arabicPeriod"/>
            </a:pPr>
            <a:r>
              <a:rPr b="0" i="0" lang="en-US" u="none" strike="noStrike">
                <a:solidFill>
                  <a:srgbClr val="ECECEC"/>
                </a:solidFill>
                <a:latin typeface="Arial"/>
                <a:ea typeface="Arial"/>
                <a:cs typeface="Arial"/>
                <a:sym typeface="Arial"/>
              </a:rPr>
              <a:t>Inflation spikes during periods of economic crisis.</a:t>
            </a:r>
            <a:endParaRPr/>
          </a:p>
          <a:p>
            <a:pPr indent="-228600" lvl="2" marL="1143000" rtl="0" algn="l">
              <a:lnSpc>
                <a:spcPct val="100000"/>
              </a:lnSpc>
              <a:spcBef>
                <a:spcPts val="0"/>
              </a:spcBef>
              <a:spcAft>
                <a:spcPts val="0"/>
              </a:spcAft>
              <a:buSzPts val="1100"/>
              <a:buFont typeface="Arial"/>
              <a:buAutoNum type="arabicPeriod"/>
            </a:pPr>
            <a:r>
              <a:rPr b="0" i="0" lang="en-US" u="none" strike="noStrike">
                <a:solidFill>
                  <a:srgbClr val="ECECEC"/>
                </a:solidFill>
                <a:latin typeface="Arial"/>
                <a:ea typeface="Arial"/>
                <a:cs typeface="Arial"/>
                <a:sym typeface="Arial"/>
              </a:rPr>
              <a:t>Unemployment rates vary significantly across regions, influencing wage growth.</a:t>
            </a:r>
            <a:endParaRPr/>
          </a:p>
          <a:p>
            <a:pPr indent="-228600" lvl="2" marL="1143000" rtl="0" algn="l">
              <a:lnSpc>
                <a:spcPct val="100000"/>
              </a:lnSpc>
              <a:spcBef>
                <a:spcPts val="0"/>
              </a:spcBef>
              <a:spcAft>
                <a:spcPts val="0"/>
              </a:spcAft>
              <a:buSzPts val="1100"/>
              <a:buFont typeface="Arial"/>
              <a:buAutoNum type="arabicPeriod"/>
            </a:pPr>
            <a:r>
              <a:rPr b="0" i="0" lang="en-US" u="none" strike="noStrike">
                <a:solidFill>
                  <a:srgbClr val="ECECEC"/>
                </a:solidFill>
                <a:latin typeface="Arial"/>
                <a:ea typeface="Arial"/>
                <a:cs typeface="Arial"/>
                <a:sym typeface="Arial"/>
              </a:rPr>
              <a:t>Wage growth shows cyclical patterns based on economic conditions.</a:t>
            </a:r>
            <a:endParaRPr/>
          </a:p>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lang="en-US" sz="1100">
                <a:latin typeface="Times New Roman"/>
                <a:ea typeface="Times New Roman"/>
                <a:cs typeface="Times New Roman"/>
                <a:sym typeface="Times New Roman"/>
              </a:rPr>
              <a:t>Inflation vs Wage Growth:</a:t>
            </a:r>
            <a:endParaRPr/>
          </a:p>
          <a:p>
            <a:pPr indent="-298450" lvl="0" marL="457200" marR="0" rtl="0" algn="l">
              <a:lnSpc>
                <a:spcPct val="100000"/>
              </a:lnSpc>
              <a:spcBef>
                <a:spcPts val="0"/>
              </a:spcBef>
              <a:spcAft>
                <a:spcPts val="0"/>
              </a:spcAft>
              <a:buClr>
                <a:srgbClr val="000000"/>
              </a:buClr>
              <a:buSzPts val="1100"/>
              <a:buFont typeface="Arial"/>
              <a:buChar char="●"/>
            </a:pPr>
            <a:r>
              <a:rPr lang="en-US" sz="1100">
                <a:latin typeface="Times New Roman"/>
                <a:ea typeface="Times New Roman"/>
                <a:cs typeface="Times New Roman"/>
                <a:sym typeface="Times New Roman"/>
              </a:rPr>
              <a:t>Scatter Plot: This plot shows the correlation between inflation rates and wage growth across time.</a:t>
            </a:r>
            <a:endParaRPr/>
          </a:p>
          <a:p>
            <a:pPr indent="-228600" lvl="0" marL="457200" marR="0" rtl="0" algn="l">
              <a:lnSpc>
                <a:spcPct val="100000"/>
              </a:lnSpc>
              <a:spcBef>
                <a:spcPts val="0"/>
              </a:spcBef>
              <a:spcAft>
                <a:spcPts val="0"/>
              </a:spcAft>
              <a:buClr>
                <a:srgbClr val="000000"/>
              </a:buClr>
              <a:buSzPts val="1100"/>
              <a:buFont typeface="Arial"/>
              <a:buNone/>
            </a:pPr>
            <a:r>
              <a:t/>
            </a:r>
            <a:endParaRPr sz="1100">
              <a:latin typeface="Times New Roman"/>
              <a:ea typeface="Times New Roman"/>
              <a:cs typeface="Times New Roman"/>
              <a:sym typeface="Times New Roman"/>
            </a:endParaRPr>
          </a:p>
          <a:p>
            <a:pPr indent="-298450" lvl="0" marL="457200" marR="0" rtl="0" algn="l">
              <a:lnSpc>
                <a:spcPct val="100000"/>
              </a:lnSpc>
              <a:spcBef>
                <a:spcPts val="0"/>
              </a:spcBef>
              <a:spcAft>
                <a:spcPts val="0"/>
              </a:spcAft>
              <a:buClr>
                <a:srgbClr val="000000"/>
              </a:buClr>
              <a:buSzPts val="1100"/>
              <a:buFont typeface="Arial"/>
              <a:buChar char="●"/>
            </a:pPr>
            <a:r>
              <a:rPr b="1" i="0" lang="en-US" u="none" strike="noStrike">
                <a:solidFill>
                  <a:srgbClr val="ECECEC"/>
                </a:solidFill>
                <a:latin typeface="Arial"/>
                <a:ea typeface="Arial"/>
                <a:cs typeface="Arial"/>
                <a:sym typeface="Arial"/>
              </a:rPr>
              <a:t>Insight</a:t>
            </a:r>
            <a:r>
              <a:rPr b="0" i="0" lang="en-US" u="none" strike="noStrike">
                <a:solidFill>
                  <a:srgbClr val="ECECEC"/>
                </a:solidFill>
                <a:latin typeface="Arial"/>
                <a:ea typeface="Arial"/>
                <a:cs typeface="Arial"/>
                <a:sym typeface="Arial"/>
              </a:rPr>
              <a:t>: Negative relationship between inflation and wage growth across time.</a:t>
            </a:r>
            <a:endParaRPr/>
          </a:p>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1" i="0" lang="en-US" u="none" strike="noStrike">
                <a:solidFill>
                  <a:srgbClr val="ECECEC"/>
                </a:solidFill>
                <a:latin typeface="Arial"/>
                <a:ea typeface="Arial"/>
                <a:cs typeface="Arial"/>
                <a:sym typeface="Arial"/>
              </a:rPr>
              <a:t>Insight</a:t>
            </a:r>
            <a:r>
              <a:rPr b="0" i="0" lang="en-US" u="none" strike="noStrike">
                <a:solidFill>
                  <a:srgbClr val="ECECEC"/>
                </a:solidFill>
                <a:latin typeface="Arial"/>
                <a:ea typeface="Arial"/>
                <a:cs typeface="Arial"/>
                <a:sym typeface="Arial"/>
              </a:rPr>
              <a:t>: Higher unemployment correlates with lower wage growth.</a:t>
            </a:r>
            <a:endParaRPr/>
          </a:p>
          <a:p>
            <a:pPr indent="-228600" lvl="0" marL="457200" rtl="0" algn="l">
              <a:lnSpc>
                <a:spcPct val="100000"/>
              </a:lnSpc>
              <a:spcBef>
                <a:spcPts val="0"/>
              </a:spcBef>
              <a:spcAft>
                <a:spcPts val="0"/>
              </a:spcAft>
              <a:buSzPts val="1100"/>
              <a:buNone/>
            </a:pPr>
            <a:r>
              <a:t/>
            </a:r>
            <a:endParaRPr i="1"/>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 name="Google Shape;116;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lang="en-US" sz="1100">
                <a:latin typeface="Times New Roman"/>
                <a:ea typeface="Times New Roman"/>
                <a:cs typeface="Times New Roman"/>
                <a:sym typeface="Times New Roman"/>
              </a:rPr>
              <a:t>Unemployment Rate vs GDP:</a:t>
            </a:r>
            <a:endParaRPr/>
          </a:p>
          <a:p>
            <a:pPr indent="-298450" lvl="0" marL="457200" marR="0" rtl="0" algn="l">
              <a:lnSpc>
                <a:spcPct val="100000"/>
              </a:lnSpc>
              <a:spcBef>
                <a:spcPts val="0"/>
              </a:spcBef>
              <a:spcAft>
                <a:spcPts val="0"/>
              </a:spcAft>
              <a:buClr>
                <a:srgbClr val="000000"/>
              </a:buClr>
              <a:buSzPts val="1100"/>
              <a:buFont typeface="Arial"/>
              <a:buChar char="●"/>
            </a:pPr>
            <a:r>
              <a:rPr lang="en-US" sz="1100">
                <a:latin typeface="Times New Roman"/>
                <a:ea typeface="Times New Roman"/>
                <a:cs typeface="Times New Roman"/>
                <a:sym typeface="Times New Roman"/>
              </a:rPr>
              <a:t>Line Graph: graph explores the inverse relationship between unemployment and GDP growth.</a:t>
            </a:r>
            <a:endParaRPr/>
          </a:p>
          <a:p>
            <a:pPr indent="-298450" lvl="0" marL="457200" marR="0" rtl="0" algn="l">
              <a:lnSpc>
                <a:spcPct val="100000"/>
              </a:lnSpc>
              <a:spcBef>
                <a:spcPts val="0"/>
              </a:spcBef>
              <a:spcAft>
                <a:spcPts val="0"/>
              </a:spcAft>
              <a:buClr>
                <a:srgbClr val="000000"/>
              </a:buClr>
              <a:buSzPts val="1100"/>
              <a:buFont typeface="Arial"/>
              <a:buChar char="●"/>
            </a:pPr>
            <a:r>
              <a:rPr lang="en-US" sz="1100">
                <a:latin typeface="Times New Roman"/>
                <a:ea typeface="Times New Roman"/>
                <a:cs typeface="Times New Roman"/>
                <a:sym typeface="Times New Roman"/>
              </a:rPr>
              <a:t>Key Insight: Higher unemployment often correlates with economic contractions (lower GDP).</a:t>
            </a:r>
            <a:endParaRPr/>
          </a:p>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 name="Google Shape;122;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 name="Google Shape;12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1abb364ef2_0_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g31abb364ef2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rPr lang="en-US"/>
              <a:t>In order to study the relationship between wage growth and inflation we employ a </a:t>
            </a:r>
            <a:r>
              <a:rPr lang="en-US"/>
              <a:t>fixed</a:t>
            </a:r>
            <a:r>
              <a:rPr lang="en-US"/>
              <a:t> effects estimator. This estimation method is ideal as it allows us to exploit the variation within each region over time to control for </a:t>
            </a:r>
            <a:r>
              <a:rPr lang="en-US"/>
              <a:t>factors</a:t>
            </a:r>
            <a:r>
              <a:rPr lang="en-US"/>
              <a:t> that do not change over time. It is also a consistent estimator for short panel data which is what we have at our disposal. </a:t>
            </a:r>
            <a:r>
              <a:rPr lang="en-US"/>
              <a:t>One</a:t>
            </a:r>
            <a:r>
              <a:rPr lang="en-US"/>
              <a:t> downside is we are </a:t>
            </a:r>
            <a:r>
              <a:rPr lang="en-US"/>
              <a:t>unable</a:t>
            </a:r>
            <a:r>
              <a:rPr lang="en-US"/>
              <a:t> to measure the effect of variables that do not change overtime in this set up. As a result, our region specific dummy variables cannot be estimated. This is not a problem as those variables are a nuisance to us we are not concerned with them. </a:t>
            </a:r>
            <a:endParaRPr/>
          </a:p>
          <a:p>
            <a:pPr indent="-228600" lvl="0" marL="457200" rtl="0" algn="l">
              <a:lnSpc>
                <a:spcPct val="100000"/>
              </a:lnSpc>
              <a:spcBef>
                <a:spcPts val="0"/>
              </a:spcBef>
              <a:spcAft>
                <a:spcPts val="0"/>
              </a:spcAft>
              <a:buSzPts val="1100"/>
              <a:buNone/>
            </a:pPr>
            <a:r>
              <a:t/>
            </a:r>
            <a:endParaRPr/>
          </a:p>
          <a:p>
            <a:pPr indent="-228600" lvl="0" marL="457200" rtl="0" algn="l">
              <a:lnSpc>
                <a:spcPct val="100000"/>
              </a:lnSpc>
              <a:spcBef>
                <a:spcPts val="0"/>
              </a:spcBef>
              <a:spcAft>
                <a:spcPts val="0"/>
              </a:spcAft>
              <a:buSzPts val="1100"/>
              <a:buNone/>
            </a:pPr>
            <a:r>
              <a:rPr lang="en-US"/>
              <a:t>The first assumption is key as it simply says that the unobserved factors that do not change are not correlated with our control variables. This is an realistic assumption as certain policies or industries that are persistent and affect our macro variables will violate the opposite claim easily ie equality. The second is the zero conditional mean assumption which is essential to all empirical work as it prevents </a:t>
            </a:r>
            <a:r>
              <a:rPr lang="en-US"/>
              <a:t>biased estimates.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1abb364ef2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g31abb364ef2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rPr lang="en-US"/>
              <a:t>real wage growth we calculated ourselves</a:t>
            </a:r>
            <a:endParaRPr/>
          </a:p>
          <a:p>
            <a:pPr indent="-228600" lvl="0" marL="457200" rtl="0" algn="l">
              <a:lnSpc>
                <a:spcPct val="100000"/>
              </a:lnSpc>
              <a:spcBef>
                <a:spcPts val="0"/>
              </a:spcBef>
              <a:spcAft>
                <a:spcPts val="0"/>
              </a:spcAft>
              <a:buSzPts val="1100"/>
              <a:buNone/>
            </a:pPr>
            <a:r>
              <a:t/>
            </a:r>
            <a:endParaRPr/>
          </a:p>
          <a:p>
            <a:pPr indent="-228600" lvl="0" marL="457200" rtl="0" algn="l">
              <a:lnSpc>
                <a:spcPct val="100000"/>
              </a:lnSpc>
              <a:spcBef>
                <a:spcPts val="0"/>
              </a:spcBef>
              <a:spcAft>
                <a:spcPts val="0"/>
              </a:spcAft>
              <a:buClr>
                <a:srgbClr val="000000"/>
              </a:buClr>
              <a:buSzPts val="1100"/>
              <a:buFont typeface="Arial"/>
              <a:buNone/>
            </a:pPr>
            <a:r>
              <a:rPr lang="en-US"/>
              <a:t>The betas related to the bolded are the focus of our research.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rPr lang="en-US"/>
              <a:t>Generally in our results, states that rely more on agriculture than the services industries were more affected by inflation. </a:t>
            </a:r>
            <a:endParaRPr/>
          </a:p>
          <a:p>
            <a:pPr indent="-228600" lvl="0" marL="457200" rtl="0" algn="l">
              <a:lnSpc>
                <a:spcPct val="100000"/>
              </a:lnSpc>
              <a:spcBef>
                <a:spcPts val="0"/>
              </a:spcBef>
              <a:spcAft>
                <a:spcPts val="0"/>
              </a:spcAft>
              <a:buSzPts val="1100"/>
              <a:buNone/>
            </a:pPr>
            <a:r>
              <a:t/>
            </a:r>
            <a:endParaRPr/>
          </a:p>
          <a:p>
            <a:pPr indent="-228600" lvl="0" marL="457200" rtl="0" algn="l">
              <a:lnSpc>
                <a:spcPct val="100000"/>
              </a:lnSpc>
              <a:spcBef>
                <a:spcPts val="0"/>
              </a:spcBef>
              <a:spcAft>
                <a:spcPts val="0"/>
              </a:spcAft>
              <a:buSzPts val="1100"/>
              <a:buNone/>
            </a:pPr>
            <a:r>
              <a:rPr lang="en-US"/>
              <a:t>Our original model had found no structural breaks.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1abb364ef2_0_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g31abb364ef2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800"/>
              </a:spcBef>
              <a:spcAft>
                <a:spcPts val="0"/>
              </a:spcAft>
              <a:buClr>
                <a:schemeClr val="dk1"/>
              </a:buClr>
              <a:buSzPts val="1100"/>
              <a:buFont typeface="Arial"/>
              <a:buNone/>
            </a:pPr>
            <a:r>
              <a:rPr lang="en-US" sz="1400">
                <a:solidFill>
                  <a:schemeClr val="dk1"/>
                </a:solidFill>
                <a:latin typeface="Times New Roman"/>
                <a:ea typeface="Times New Roman"/>
                <a:cs typeface="Times New Roman"/>
                <a:sym typeface="Times New Roman"/>
              </a:rPr>
              <a:t>We repeated the regression while changing the start point of the Post 2020 dummy variable in order to cross check our results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1abb364ef2_0_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g31abb364ef2_0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800"/>
              </a:spcBef>
              <a:spcAft>
                <a:spcPts val="0"/>
              </a:spcAft>
              <a:buSzPts val="1100"/>
              <a:buNone/>
            </a:pPr>
            <a:r>
              <a:rPr lang="en-US" sz="1400">
                <a:solidFill>
                  <a:schemeClr val="dk1"/>
                </a:solidFill>
                <a:latin typeface="Times New Roman"/>
                <a:ea typeface="Times New Roman"/>
                <a:cs typeface="Times New Roman"/>
                <a:sym typeface="Times New Roman"/>
              </a:rPr>
              <a:t>So the list of regions most affected by inflation did not </a:t>
            </a:r>
            <a:r>
              <a:rPr lang="en-US" sz="1400">
                <a:solidFill>
                  <a:schemeClr val="dk1"/>
                </a:solidFill>
                <a:latin typeface="Times New Roman"/>
                <a:ea typeface="Times New Roman"/>
                <a:cs typeface="Times New Roman"/>
                <a:sym typeface="Times New Roman"/>
              </a:rPr>
              <a:t>change</a:t>
            </a:r>
            <a:r>
              <a:rPr lang="en-US" sz="1400">
                <a:solidFill>
                  <a:schemeClr val="dk1"/>
                </a:solidFill>
                <a:latin typeface="Times New Roman"/>
                <a:ea typeface="Times New Roman"/>
                <a:cs typeface="Times New Roman"/>
                <a:sym typeface="Times New Roman"/>
              </a:rPr>
              <a:t> in our model which further validates are results.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b="1" i="0" lang="en-US" u="none" strike="noStrike">
                <a:solidFill>
                  <a:srgbClr val="ECECEC"/>
                </a:solidFill>
                <a:latin typeface="Arial"/>
                <a:ea typeface="Arial"/>
                <a:cs typeface="Arial"/>
                <a:sym typeface="Arial"/>
              </a:rPr>
              <a:t>Conclusion and Recommendations</a:t>
            </a:r>
            <a:endParaRPr/>
          </a:p>
          <a:p>
            <a:pPr indent="-298450" lvl="0" marL="457200" rtl="0" algn="l">
              <a:lnSpc>
                <a:spcPct val="100000"/>
              </a:lnSpc>
              <a:spcBef>
                <a:spcPts val="0"/>
              </a:spcBef>
              <a:spcAft>
                <a:spcPts val="0"/>
              </a:spcAft>
              <a:buSzPts val="1100"/>
              <a:buFont typeface="Arial"/>
              <a:buChar char="•"/>
            </a:pPr>
            <a:r>
              <a:rPr b="1" i="0" lang="en-US" u="none" strike="noStrike">
                <a:solidFill>
                  <a:srgbClr val="ECECEC"/>
                </a:solidFill>
                <a:latin typeface="Arial"/>
                <a:ea typeface="Arial"/>
                <a:cs typeface="Arial"/>
                <a:sym typeface="Arial"/>
              </a:rPr>
              <a:t>Conclusion</a:t>
            </a:r>
            <a:r>
              <a:rPr b="0" i="0" lang="en-US" u="none" strike="noStrike">
                <a:solidFill>
                  <a:srgbClr val="ECECEC"/>
                </a:solidFill>
                <a:latin typeface="Arial"/>
                <a:ea typeface="Arial"/>
                <a:cs typeface="Arial"/>
                <a:sym typeface="Arial"/>
              </a:rPr>
              <a:t>:</a:t>
            </a:r>
            <a:endParaRPr/>
          </a:p>
          <a:p>
            <a:pPr indent="-285750" lvl="1" marL="742950" rtl="0" algn="l">
              <a:lnSpc>
                <a:spcPct val="100000"/>
              </a:lnSpc>
              <a:spcBef>
                <a:spcPts val="0"/>
              </a:spcBef>
              <a:spcAft>
                <a:spcPts val="0"/>
              </a:spcAft>
              <a:buSzPts val="1100"/>
              <a:buFont typeface="Arial"/>
              <a:buChar char="•"/>
            </a:pPr>
            <a:r>
              <a:rPr b="0" i="0" lang="en-US" u="none" strike="noStrike">
                <a:solidFill>
                  <a:srgbClr val="ECECEC"/>
                </a:solidFill>
                <a:latin typeface="Arial"/>
                <a:ea typeface="Arial"/>
                <a:cs typeface="Arial"/>
                <a:sym typeface="Arial"/>
              </a:rPr>
              <a:t>Inflation negatively impacts wage growth across all regions.</a:t>
            </a:r>
            <a:endParaRPr/>
          </a:p>
          <a:p>
            <a:pPr indent="-285750" lvl="1" marL="742950" rtl="0" algn="l">
              <a:lnSpc>
                <a:spcPct val="100000"/>
              </a:lnSpc>
              <a:spcBef>
                <a:spcPts val="0"/>
              </a:spcBef>
              <a:spcAft>
                <a:spcPts val="0"/>
              </a:spcAft>
              <a:buSzPts val="1100"/>
              <a:buFont typeface="Arial"/>
              <a:buChar char="•"/>
            </a:pPr>
            <a:r>
              <a:rPr b="0" i="0" lang="en-US" u="none" strike="noStrike">
                <a:solidFill>
                  <a:srgbClr val="ECECEC"/>
                </a:solidFill>
                <a:latin typeface="Arial"/>
                <a:ea typeface="Arial"/>
                <a:cs typeface="Arial"/>
                <a:sym typeface="Arial"/>
              </a:rPr>
              <a:t>Unemployment is a key factor in wage stagnation, with regional variations.</a:t>
            </a:r>
            <a:endParaRPr/>
          </a:p>
          <a:p>
            <a:pPr indent="-285750" lvl="1" marL="742950" rtl="0" algn="l">
              <a:lnSpc>
                <a:spcPct val="100000"/>
              </a:lnSpc>
              <a:spcBef>
                <a:spcPts val="0"/>
              </a:spcBef>
              <a:spcAft>
                <a:spcPts val="0"/>
              </a:spcAft>
              <a:buSzPts val="1100"/>
              <a:buFont typeface="Arial"/>
              <a:buChar char="•"/>
            </a:pPr>
            <a:r>
              <a:rPr b="0" i="0" lang="en-US" u="none" strike="noStrike">
                <a:solidFill>
                  <a:srgbClr val="ECECEC"/>
                </a:solidFill>
                <a:latin typeface="Arial"/>
                <a:ea typeface="Arial"/>
                <a:cs typeface="Arial"/>
                <a:sym typeface="Arial"/>
              </a:rPr>
              <a:t>Fixed-effects model highlights the need for region-specific economic policies.</a:t>
            </a:r>
            <a:endParaRPr/>
          </a:p>
          <a:p>
            <a:pPr indent="-298450" lvl="0" marL="457200" rtl="0" algn="l">
              <a:lnSpc>
                <a:spcPct val="100000"/>
              </a:lnSpc>
              <a:spcBef>
                <a:spcPts val="0"/>
              </a:spcBef>
              <a:spcAft>
                <a:spcPts val="0"/>
              </a:spcAft>
              <a:buSzPts val="1100"/>
              <a:buFont typeface="Arial"/>
              <a:buChar char="•"/>
            </a:pPr>
            <a:r>
              <a:rPr b="1" i="0" lang="en-US" u="none" strike="noStrike">
                <a:solidFill>
                  <a:srgbClr val="ECECEC"/>
                </a:solidFill>
                <a:latin typeface="Arial"/>
                <a:ea typeface="Arial"/>
                <a:cs typeface="Arial"/>
                <a:sym typeface="Arial"/>
              </a:rPr>
              <a:t>Recommendations</a:t>
            </a:r>
            <a:r>
              <a:rPr b="0" i="0" lang="en-US" u="none" strike="noStrike">
                <a:solidFill>
                  <a:srgbClr val="ECECEC"/>
                </a:solidFill>
                <a:latin typeface="Arial"/>
                <a:ea typeface="Arial"/>
                <a:cs typeface="Arial"/>
                <a:sym typeface="Arial"/>
              </a:rPr>
              <a:t>:</a:t>
            </a:r>
            <a:endParaRPr/>
          </a:p>
          <a:p>
            <a:pPr indent="-285750" lvl="1" marL="742950" rtl="0" algn="l">
              <a:lnSpc>
                <a:spcPct val="100000"/>
              </a:lnSpc>
              <a:spcBef>
                <a:spcPts val="0"/>
              </a:spcBef>
              <a:spcAft>
                <a:spcPts val="0"/>
              </a:spcAft>
              <a:buSzPts val="1100"/>
              <a:buFont typeface="Arial"/>
              <a:buChar char="•"/>
            </a:pPr>
            <a:r>
              <a:rPr b="0" i="0" lang="en-US" u="none" strike="noStrike">
                <a:solidFill>
                  <a:srgbClr val="ECECEC"/>
                </a:solidFill>
                <a:latin typeface="Arial"/>
                <a:ea typeface="Arial"/>
                <a:cs typeface="Arial"/>
                <a:sym typeface="Arial"/>
              </a:rPr>
              <a:t>Targeted interventions for regions experiencing high unemployment.</a:t>
            </a:r>
            <a:endParaRPr/>
          </a:p>
          <a:p>
            <a:pPr indent="-285750" lvl="1" marL="742950" rtl="0" algn="l">
              <a:lnSpc>
                <a:spcPct val="100000"/>
              </a:lnSpc>
              <a:spcBef>
                <a:spcPts val="0"/>
              </a:spcBef>
              <a:spcAft>
                <a:spcPts val="0"/>
              </a:spcAft>
              <a:buSzPts val="1100"/>
              <a:buFont typeface="Arial"/>
              <a:buChar char="•"/>
            </a:pPr>
            <a:r>
              <a:rPr b="0" i="0" lang="en-US" u="none" strike="noStrike">
                <a:solidFill>
                  <a:srgbClr val="ECECEC"/>
                </a:solidFill>
                <a:latin typeface="Arial"/>
                <a:ea typeface="Arial"/>
                <a:cs typeface="Arial"/>
                <a:sym typeface="Arial"/>
              </a:rPr>
              <a:t>Address inflation through monetary policies to boost wage growth.</a:t>
            </a:r>
            <a:endParaRPr/>
          </a:p>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1abb364ef2_4_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g31abb364ef2_4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1b4ab3120d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g31b4ab3120d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b="1" i="0" lang="en-US" u="none" strike="noStrike">
                <a:solidFill>
                  <a:srgbClr val="ECECEC"/>
                </a:solidFill>
                <a:latin typeface="Arial"/>
                <a:ea typeface="Arial"/>
                <a:cs typeface="Arial"/>
                <a:sym typeface="Arial"/>
              </a:rPr>
              <a:t>Conclusion and Recommendations</a:t>
            </a:r>
            <a:endParaRPr/>
          </a:p>
          <a:p>
            <a:pPr indent="-298450" lvl="0" marL="457200" rtl="0" algn="l">
              <a:lnSpc>
                <a:spcPct val="100000"/>
              </a:lnSpc>
              <a:spcBef>
                <a:spcPts val="0"/>
              </a:spcBef>
              <a:spcAft>
                <a:spcPts val="0"/>
              </a:spcAft>
              <a:buSzPts val="1100"/>
              <a:buFont typeface="Arial"/>
              <a:buChar char="•"/>
            </a:pPr>
            <a:r>
              <a:rPr b="1" i="0" lang="en-US" u="none" strike="noStrike">
                <a:solidFill>
                  <a:srgbClr val="ECECEC"/>
                </a:solidFill>
                <a:latin typeface="Arial"/>
                <a:ea typeface="Arial"/>
                <a:cs typeface="Arial"/>
                <a:sym typeface="Arial"/>
              </a:rPr>
              <a:t>Conclusion</a:t>
            </a:r>
            <a:r>
              <a:rPr b="0" i="0" lang="en-US" u="none" strike="noStrike">
                <a:solidFill>
                  <a:srgbClr val="ECECEC"/>
                </a:solidFill>
                <a:latin typeface="Arial"/>
                <a:ea typeface="Arial"/>
                <a:cs typeface="Arial"/>
                <a:sym typeface="Arial"/>
              </a:rPr>
              <a:t>:</a:t>
            </a:r>
            <a:endParaRPr/>
          </a:p>
          <a:p>
            <a:pPr indent="-285750" lvl="1" marL="742950" rtl="0" algn="l">
              <a:lnSpc>
                <a:spcPct val="100000"/>
              </a:lnSpc>
              <a:spcBef>
                <a:spcPts val="0"/>
              </a:spcBef>
              <a:spcAft>
                <a:spcPts val="0"/>
              </a:spcAft>
              <a:buSzPts val="1100"/>
              <a:buFont typeface="Arial"/>
              <a:buChar char="•"/>
            </a:pPr>
            <a:r>
              <a:rPr b="0" i="0" lang="en-US" u="none" strike="noStrike">
                <a:solidFill>
                  <a:srgbClr val="ECECEC"/>
                </a:solidFill>
                <a:latin typeface="Arial"/>
                <a:ea typeface="Arial"/>
                <a:cs typeface="Arial"/>
                <a:sym typeface="Arial"/>
              </a:rPr>
              <a:t>Inflation negatively impacts wage growth across all regions.</a:t>
            </a:r>
            <a:endParaRPr/>
          </a:p>
          <a:p>
            <a:pPr indent="-285750" lvl="1" marL="742950" rtl="0" algn="l">
              <a:lnSpc>
                <a:spcPct val="100000"/>
              </a:lnSpc>
              <a:spcBef>
                <a:spcPts val="0"/>
              </a:spcBef>
              <a:spcAft>
                <a:spcPts val="0"/>
              </a:spcAft>
              <a:buSzPts val="1100"/>
              <a:buFont typeface="Arial"/>
              <a:buChar char="•"/>
            </a:pPr>
            <a:r>
              <a:rPr b="0" i="0" lang="en-US" u="none" strike="noStrike">
                <a:solidFill>
                  <a:srgbClr val="ECECEC"/>
                </a:solidFill>
                <a:latin typeface="Arial"/>
                <a:ea typeface="Arial"/>
                <a:cs typeface="Arial"/>
                <a:sym typeface="Arial"/>
              </a:rPr>
              <a:t>Unemployment is a key factor in wage stagnation, with regional variations.</a:t>
            </a:r>
            <a:endParaRPr/>
          </a:p>
          <a:p>
            <a:pPr indent="-285750" lvl="1" marL="742950" rtl="0" algn="l">
              <a:lnSpc>
                <a:spcPct val="100000"/>
              </a:lnSpc>
              <a:spcBef>
                <a:spcPts val="0"/>
              </a:spcBef>
              <a:spcAft>
                <a:spcPts val="0"/>
              </a:spcAft>
              <a:buSzPts val="1100"/>
              <a:buFont typeface="Arial"/>
              <a:buChar char="•"/>
            </a:pPr>
            <a:r>
              <a:rPr b="0" i="0" lang="en-US" u="none" strike="noStrike">
                <a:solidFill>
                  <a:srgbClr val="ECECEC"/>
                </a:solidFill>
                <a:latin typeface="Arial"/>
                <a:ea typeface="Arial"/>
                <a:cs typeface="Arial"/>
                <a:sym typeface="Arial"/>
              </a:rPr>
              <a:t>Fixed-effects model highlights the need for region-specific economic policies.</a:t>
            </a:r>
            <a:endParaRPr/>
          </a:p>
          <a:p>
            <a:pPr indent="-298450" lvl="0" marL="457200" rtl="0" algn="l">
              <a:lnSpc>
                <a:spcPct val="100000"/>
              </a:lnSpc>
              <a:spcBef>
                <a:spcPts val="0"/>
              </a:spcBef>
              <a:spcAft>
                <a:spcPts val="0"/>
              </a:spcAft>
              <a:buSzPts val="1100"/>
              <a:buFont typeface="Arial"/>
              <a:buChar char="•"/>
            </a:pPr>
            <a:r>
              <a:rPr b="1" i="0" lang="en-US" u="none" strike="noStrike">
                <a:solidFill>
                  <a:srgbClr val="ECECEC"/>
                </a:solidFill>
                <a:latin typeface="Arial"/>
                <a:ea typeface="Arial"/>
                <a:cs typeface="Arial"/>
                <a:sym typeface="Arial"/>
              </a:rPr>
              <a:t>Recommendations</a:t>
            </a:r>
            <a:r>
              <a:rPr b="0" i="0" lang="en-US" u="none" strike="noStrike">
                <a:solidFill>
                  <a:srgbClr val="ECECEC"/>
                </a:solidFill>
                <a:latin typeface="Arial"/>
                <a:ea typeface="Arial"/>
                <a:cs typeface="Arial"/>
                <a:sym typeface="Arial"/>
              </a:rPr>
              <a:t>:</a:t>
            </a:r>
            <a:endParaRPr/>
          </a:p>
          <a:p>
            <a:pPr indent="-285750" lvl="1" marL="742950" rtl="0" algn="l">
              <a:lnSpc>
                <a:spcPct val="100000"/>
              </a:lnSpc>
              <a:spcBef>
                <a:spcPts val="0"/>
              </a:spcBef>
              <a:spcAft>
                <a:spcPts val="0"/>
              </a:spcAft>
              <a:buSzPts val="1100"/>
              <a:buFont typeface="Arial"/>
              <a:buChar char="•"/>
            </a:pPr>
            <a:r>
              <a:rPr b="0" i="0" lang="en-US" u="none" strike="noStrike">
                <a:solidFill>
                  <a:srgbClr val="ECECEC"/>
                </a:solidFill>
                <a:latin typeface="Arial"/>
                <a:ea typeface="Arial"/>
                <a:cs typeface="Arial"/>
                <a:sym typeface="Arial"/>
              </a:rPr>
              <a:t>Targeted interventions for regions experiencing high unemployment.</a:t>
            </a:r>
            <a:endParaRPr/>
          </a:p>
          <a:p>
            <a:pPr indent="-285750" lvl="1" marL="742950" rtl="0" algn="l">
              <a:lnSpc>
                <a:spcPct val="100000"/>
              </a:lnSpc>
              <a:spcBef>
                <a:spcPts val="0"/>
              </a:spcBef>
              <a:spcAft>
                <a:spcPts val="0"/>
              </a:spcAft>
              <a:buSzPts val="1100"/>
              <a:buFont typeface="Arial"/>
              <a:buChar char="•"/>
            </a:pPr>
            <a:r>
              <a:rPr b="0" i="0" lang="en-US" u="none" strike="noStrike">
                <a:solidFill>
                  <a:srgbClr val="ECECEC"/>
                </a:solidFill>
                <a:latin typeface="Arial"/>
                <a:ea typeface="Arial"/>
                <a:cs typeface="Arial"/>
                <a:sym typeface="Arial"/>
              </a:rPr>
              <a:t>Address inflation through monetary policies to boost wage growth.</a:t>
            </a:r>
            <a:endParaRPr/>
          </a:p>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1b4ab3120d_0_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g31b4ab3120d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b="1" i="0" lang="en-US" u="none" strike="noStrike">
                <a:solidFill>
                  <a:srgbClr val="ECECEC"/>
                </a:solidFill>
                <a:latin typeface="Arial"/>
                <a:ea typeface="Arial"/>
                <a:cs typeface="Arial"/>
                <a:sym typeface="Arial"/>
              </a:rPr>
              <a:t>Conclusion and Recommendations</a:t>
            </a:r>
            <a:endParaRPr/>
          </a:p>
          <a:p>
            <a:pPr indent="-298450" lvl="0" marL="457200" rtl="0" algn="l">
              <a:lnSpc>
                <a:spcPct val="100000"/>
              </a:lnSpc>
              <a:spcBef>
                <a:spcPts val="0"/>
              </a:spcBef>
              <a:spcAft>
                <a:spcPts val="0"/>
              </a:spcAft>
              <a:buSzPts val="1100"/>
              <a:buFont typeface="Arial"/>
              <a:buChar char="•"/>
            </a:pPr>
            <a:r>
              <a:rPr b="1" i="0" lang="en-US" u="none" strike="noStrike">
                <a:solidFill>
                  <a:srgbClr val="ECECEC"/>
                </a:solidFill>
                <a:latin typeface="Arial"/>
                <a:ea typeface="Arial"/>
                <a:cs typeface="Arial"/>
                <a:sym typeface="Arial"/>
              </a:rPr>
              <a:t>Conclusion</a:t>
            </a:r>
            <a:r>
              <a:rPr b="0" i="0" lang="en-US" u="none" strike="noStrike">
                <a:solidFill>
                  <a:srgbClr val="ECECEC"/>
                </a:solidFill>
                <a:latin typeface="Arial"/>
                <a:ea typeface="Arial"/>
                <a:cs typeface="Arial"/>
                <a:sym typeface="Arial"/>
              </a:rPr>
              <a:t>:</a:t>
            </a:r>
            <a:endParaRPr/>
          </a:p>
          <a:p>
            <a:pPr indent="-285750" lvl="1" marL="742950" rtl="0" algn="l">
              <a:lnSpc>
                <a:spcPct val="100000"/>
              </a:lnSpc>
              <a:spcBef>
                <a:spcPts val="0"/>
              </a:spcBef>
              <a:spcAft>
                <a:spcPts val="0"/>
              </a:spcAft>
              <a:buSzPts val="1100"/>
              <a:buFont typeface="Arial"/>
              <a:buChar char="•"/>
            </a:pPr>
            <a:r>
              <a:rPr b="0" i="0" lang="en-US" u="none" strike="noStrike">
                <a:solidFill>
                  <a:srgbClr val="ECECEC"/>
                </a:solidFill>
                <a:latin typeface="Arial"/>
                <a:ea typeface="Arial"/>
                <a:cs typeface="Arial"/>
                <a:sym typeface="Arial"/>
              </a:rPr>
              <a:t>Inflation negatively impacts wage growth across all regions.</a:t>
            </a:r>
            <a:endParaRPr/>
          </a:p>
          <a:p>
            <a:pPr indent="-285750" lvl="1" marL="742950" rtl="0" algn="l">
              <a:lnSpc>
                <a:spcPct val="100000"/>
              </a:lnSpc>
              <a:spcBef>
                <a:spcPts val="0"/>
              </a:spcBef>
              <a:spcAft>
                <a:spcPts val="0"/>
              </a:spcAft>
              <a:buSzPts val="1100"/>
              <a:buFont typeface="Arial"/>
              <a:buChar char="•"/>
            </a:pPr>
            <a:r>
              <a:rPr b="0" i="0" lang="en-US" u="none" strike="noStrike">
                <a:solidFill>
                  <a:srgbClr val="ECECEC"/>
                </a:solidFill>
                <a:latin typeface="Arial"/>
                <a:ea typeface="Arial"/>
                <a:cs typeface="Arial"/>
                <a:sym typeface="Arial"/>
              </a:rPr>
              <a:t>Unemployment is a key factor in wage stagnation, with regional variations.</a:t>
            </a:r>
            <a:endParaRPr/>
          </a:p>
          <a:p>
            <a:pPr indent="-285750" lvl="1" marL="742950" rtl="0" algn="l">
              <a:lnSpc>
                <a:spcPct val="100000"/>
              </a:lnSpc>
              <a:spcBef>
                <a:spcPts val="0"/>
              </a:spcBef>
              <a:spcAft>
                <a:spcPts val="0"/>
              </a:spcAft>
              <a:buSzPts val="1100"/>
              <a:buFont typeface="Arial"/>
              <a:buChar char="•"/>
            </a:pPr>
            <a:r>
              <a:rPr b="0" i="0" lang="en-US" u="none" strike="noStrike">
                <a:solidFill>
                  <a:srgbClr val="ECECEC"/>
                </a:solidFill>
                <a:latin typeface="Arial"/>
                <a:ea typeface="Arial"/>
                <a:cs typeface="Arial"/>
                <a:sym typeface="Arial"/>
              </a:rPr>
              <a:t>Fixed-effects model highlights the need for region-specific economic policies.</a:t>
            </a:r>
            <a:endParaRPr/>
          </a:p>
          <a:p>
            <a:pPr indent="-298450" lvl="0" marL="457200" rtl="0" algn="l">
              <a:lnSpc>
                <a:spcPct val="100000"/>
              </a:lnSpc>
              <a:spcBef>
                <a:spcPts val="0"/>
              </a:spcBef>
              <a:spcAft>
                <a:spcPts val="0"/>
              </a:spcAft>
              <a:buSzPts val="1100"/>
              <a:buFont typeface="Arial"/>
              <a:buChar char="•"/>
            </a:pPr>
            <a:r>
              <a:rPr b="1" i="0" lang="en-US" u="none" strike="noStrike">
                <a:solidFill>
                  <a:srgbClr val="ECECEC"/>
                </a:solidFill>
                <a:latin typeface="Arial"/>
                <a:ea typeface="Arial"/>
                <a:cs typeface="Arial"/>
                <a:sym typeface="Arial"/>
              </a:rPr>
              <a:t>Recommendations</a:t>
            </a:r>
            <a:r>
              <a:rPr b="0" i="0" lang="en-US" u="none" strike="noStrike">
                <a:solidFill>
                  <a:srgbClr val="ECECEC"/>
                </a:solidFill>
                <a:latin typeface="Arial"/>
                <a:ea typeface="Arial"/>
                <a:cs typeface="Arial"/>
                <a:sym typeface="Arial"/>
              </a:rPr>
              <a:t>:</a:t>
            </a:r>
            <a:endParaRPr/>
          </a:p>
          <a:p>
            <a:pPr indent="-285750" lvl="1" marL="742950" rtl="0" algn="l">
              <a:lnSpc>
                <a:spcPct val="100000"/>
              </a:lnSpc>
              <a:spcBef>
                <a:spcPts val="0"/>
              </a:spcBef>
              <a:spcAft>
                <a:spcPts val="0"/>
              </a:spcAft>
              <a:buSzPts val="1100"/>
              <a:buFont typeface="Arial"/>
              <a:buChar char="•"/>
            </a:pPr>
            <a:r>
              <a:rPr b="0" i="0" lang="en-US" u="none" strike="noStrike">
                <a:solidFill>
                  <a:srgbClr val="ECECEC"/>
                </a:solidFill>
                <a:latin typeface="Arial"/>
                <a:ea typeface="Arial"/>
                <a:cs typeface="Arial"/>
                <a:sym typeface="Arial"/>
              </a:rPr>
              <a:t>Targeted interventions for regions experiencing high unemployment.</a:t>
            </a:r>
            <a:endParaRPr/>
          </a:p>
          <a:p>
            <a:pPr indent="-285750" lvl="1" marL="742950" rtl="0" algn="l">
              <a:lnSpc>
                <a:spcPct val="100000"/>
              </a:lnSpc>
              <a:spcBef>
                <a:spcPts val="0"/>
              </a:spcBef>
              <a:spcAft>
                <a:spcPts val="0"/>
              </a:spcAft>
              <a:buSzPts val="1100"/>
              <a:buFont typeface="Arial"/>
              <a:buChar char="•"/>
            </a:pPr>
            <a:r>
              <a:rPr b="0" i="0" lang="en-US" u="none" strike="noStrike">
                <a:solidFill>
                  <a:srgbClr val="ECECEC"/>
                </a:solidFill>
                <a:latin typeface="Arial"/>
                <a:ea typeface="Arial"/>
                <a:cs typeface="Arial"/>
                <a:sym typeface="Arial"/>
              </a:rPr>
              <a:t>Address inflation through monetary policies to boost wage growth.</a:t>
            </a:r>
            <a:endParaRPr/>
          </a:p>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4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4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p:cSld name="Section Divider">
    <p:spTree>
      <p:nvGrpSpPr>
        <p:cNvPr id="12" name="Shape 12"/>
        <p:cNvGrpSpPr/>
        <p:nvPr/>
      </p:nvGrpSpPr>
      <p:grpSpPr>
        <a:xfrm>
          <a:off x="0" y="0"/>
          <a:ext cx="0" cy="0"/>
          <a:chOff x="0" y="0"/>
          <a:chExt cx="0" cy="0"/>
        </a:xfrm>
      </p:grpSpPr>
      <p:pic>
        <p:nvPicPr>
          <p:cNvPr id="13" name="Google Shape;13;g314e746443e_0_296"/>
          <p:cNvPicPr preferRelativeResize="0"/>
          <p:nvPr/>
        </p:nvPicPr>
        <p:blipFill rotWithShape="1">
          <a:blip r:embed="rId2">
            <a:alphaModFix/>
          </a:blip>
          <a:srcRect b="0" l="0" r="0" t="0"/>
          <a:stretch/>
        </p:blipFill>
        <p:spPr>
          <a:xfrm>
            <a:off x="94442" y="4632722"/>
            <a:ext cx="737365" cy="461590"/>
          </a:xfrm>
          <a:prstGeom prst="rect">
            <a:avLst/>
          </a:prstGeom>
          <a:noFill/>
          <a:ln>
            <a:noFill/>
          </a:ln>
        </p:spPr>
      </p:pic>
      <p:cxnSp>
        <p:nvCxnSpPr>
          <p:cNvPr id="14" name="Google Shape;14;g314e746443e_0_296"/>
          <p:cNvCxnSpPr/>
          <p:nvPr/>
        </p:nvCxnSpPr>
        <p:spPr>
          <a:xfrm>
            <a:off x="480060" y="3624943"/>
            <a:ext cx="2830200" cy="0"/>
          </a:xfrm>
          <a:prstGeom prst="straightConnector1">
            <a:avLst/>
          </a:prstGeom>
          <a:noFill/>
          <a:ln cap="flat" cmpd="sng" w="50800">
            <a:solidFill>
              <a:srgbClr val="990000"/>
            </a:solidFill>
            <a:prstDash val="solid"/>
            <a:miter lim="800000"/>
            <a:headEnd len="sm" w="sm" type="none"/>
            <a:tailEnd len="sm" w="sm" type="none"/>
          </a:ln>
        </p:spPr>
      </p:cxnSp>
      <p:sp>
        <p:nvSpPr>
          <p:cNvPr id="15" name="Google Shape;15;g314e746443e_0_296"/>
          <p:cNvSpPr txBox="1"/>
          <p:nvPr>
            <p:ph idx="1" type="body"/>
          </p:nvPr>
        </p:nvSpPr>
        <p:spPr>
          <a:xfrm>
            <a:off x="459486" y="3031236"/>
            <a:ext cx="4645800" cy="524700"/>
          </a:xfrm>
          <a:prstGeom prst="rect">
            <a:avLst/>
          </a:prstGeom>
          <a:noFill/>
          <a:ln>
            <a:noFill/>
          </a:ln>
        </p:spPr>
        <p:txBody>
          <a:bodyPr anchorCtr="0" anchor="t" bIns="34275" lIns="68575" spcFirstLastPara="1" rIns="68575" wrap="square" tIns="34275">
            <a:normAutofit/>
          </a:bodyPr>
          <a:lstStyle>
            <a:lvl1pPr indent="-228600" lvl="0" marL="457200" marR="0" rtl="0" algn="l">
              <a:lnSpc>
                <a:spcPct val="90000"/>
              </a:lnSpc>
              <a:spcBef>
                <a:spcPts val="800"/>
              </a:spcBef>
              <a:spcAft>
                <a:spcPts val="0"/>
              </a:spcAft>
              <a:buClr>
                <a:schemeClr val="dk1"/>
              </a:buClr>
              <a:buSzPts val="2100"/>
              <a:buFont typeface="Arial"/>
              <a:buNone/>
              <a:defRPr b="1" i="0" sz="1400" u="none" cap="none" strike="noStrike">
                <a:solidFill>
                  <a:schemeClr val="dk1"/>
                </a:solidFill>
                <a:latin typeface="Arial Black"/>
                <a:ea typeface="Arial Black"/>
                <a:cs typeface="Arial Black"/>
                <a:sym typeface="Arial Black"/>
              </a:defRPr>
            </a:lvl1pPr>
            <a:lvl2pPr indent="-342900" lvl="1" marL="914400" marR="0" rtl="0" algn="l">
              <a:lnSpc>
                <a:spcPct val="90000"/>
              </a:lnSpc>
              <a:spcBef>
                <a:spcPts val="400"/>
              </a:spcBef>
              <a:spcAft>
                <a:spcPts val="0"/>
              </a:spcAft>
              <a:buClr>
                <a:schemeClr val="lt1"/>
              </a:buClr>
              <a:buSzPts val="1800"/>
              <a:buFont typeface="Arial"/>
              <a:buChar char="○"/>
              <a:defRPr b="0" i="0" sz="1400" u="none" cap="none" strike="noStrike">
                <a:solidFill>
                  <a:schemeClr val="lt1"/>
                </a:solidFill>
                <a:latin typeface="Arial"/>
                <a:ea typeface="Arial"/>
                <a:cs typeface="Arial"/>
                <a:sym typeface="Arial"/>
              </a:defRPr>
            </a:lvl2pPr>
            <a:lvl3pPr indent="-323850" lvl="2" marL="1371600" marR="0" rtl="0" algn="l">
              <a:lnSpc>
                <a:spcPct val="90000"/>
              </a:lnSpc>
              <a:spcBef>
                <a:spcPts val="400"/>
              </a:spcBef>
              <a:spcAft>
                <a:spcPts val="0"/>
              </a:spcAft>
              <a:buClr>
                <a:schemeClr val="lt1"/>
              </a:buClr>
              <a:buSzPts val="1500"/>
              <a:buFont typeface="Arial"/>
              <a:buChar char="■"/>
              <a:defRPr b="0" i="0" sz="1400" u="none" cap="none" strike="noStrike">
                <a:solidFill>
                  <a:schemeClr val="lt1"/>
                </a:solidFill>
                <a:latin typeface="Arial"/>
                <a:ea typeface="Arial"/>
                <a:cs typeface="Arial"/>
                <a:sym typeface="Arial"/>
              </a:defRPr>
            </a:lvl3pPr>
            <a:lvl4pPr indent="-317500" lvl="3" marL="1828800" marR="0" rtl="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Arial"/>
                <a:ea typeface="Arial"/>
                <a:cs typeface="Arial"/>
                <a:sym typeface="Arial"/>
              </a:defRPr>
            </a:lvl4pPr>
            <a:lvl5pPr indent="-317500" lvl="4" marL="2286000" marR="0" rtl="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 Text and Object ">
  <p:cSld name="2 Column - Text and Object ">
    <p:spTree>
      <p:nvGrpSpPr>
        <p:cNvPr id="21" name="Shape 21"/>
        <p:cNvGrpSpPr/>
        <p:nvPr/>
      </p:nvGrpSpPr>
      <p:grpSpPr>
        <a:xfrm>
          <a:off x="0" y="0"/>
          <a:ext cx="0" cy="0"/>
          <a:chOff x="0" y="0"/>
          <a:chExt cx="0" cy="0"/>
        </a:xfrm>
      </p:grpSpPr>
      <p:pic>
        <p:nvPicPr>
          <p:cNvPr id="22" name="Google Shape;22;p30"/>
          <p:cNvPicPr preferRelativeResize="0"/>
          <p:nvPr/>
        </p:nvPicPr>
        <p:blipFill rotWithShape="1">
          <a:blip r:embed="rId2">
            <a:alphaModFix/>
          </a:blip>
          <a:srcRect b="0" l="0" r="0" t="0"/>
          <a:stretch/>
        </p:blipFill>
        <p:spPr>
          <a:xfrm>
            <a:off x="94442" y="4632722"/>
            <a:ext cx="737365" cy="461590"/>
          </a:xfrm>
          <a:prstGeom prst="rect">
            <a:avLst/>
          </a:prstGeom>
          <a:noFill/>
          <a:ln>
            <a:noFill/>
          </a:ln>
        </p:spPr>
      </p:pic>
      <p:sp>
        <p:nvSpPr>
          <p:cNvPr id="23" name="Google Shape;23;p30"/>
          <p:cNvSpPr txBox="1"/>
          <p:nvPr>
            <p:ph type="title"/>
          </p:nvPr>
        </p:nvSpPr>
        <p:spPr>
          <a:xfrm>
            <a:off x="459486" y="274320"/>
            <a:ext cx="82296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990000"/>
              </a:buClr>
              <a:buSzPts val="2100"/>
              <a:buFont typeface="Arial Black"/>
              <a:buNone/>
              <a:defRPr sz="2100">
                <a:solidFill>
                  <a:srgbClr val="990000"/>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4" name="Google Shape;24;p30"/>
          <p:cNvSpPr txBox="1"/>
          <p:nvPr>
            <p:ph idx="1" type="body"/>
          </p:nvPr>
        </p:nvSpPr>
        <p:spPr>
          <a:xfrm>
            <a:off x="4638296" y="1369219"/>
            <a:ext cx="4046100" cy="32634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500"/>
              <a:buNone/>
              <a:defRPr sz="1500"/>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5" name="Google Shape;25;p30"/>
          <p:cNvSpPr txBox="1"/>
          <p:nvPr>
            <p:ph idx="2" type="body"/>
          </p:nvPr>
        </p:nvSpPr>
        <p:spPr>
          <a:xfrm>
            <a:off x="459485" y="1369219"/>
            <a:ext cx="4046100" cy="32634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500"/>
              <a:buNone/>
              <a:defRPr sz="1500"/>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6" name="Shape 26"/>
        <p:cNvGrpSpPr/>
        <p:nvPr/>
      </p:nvGrpSpPr>
      <p:grpSpPr>
        <a:xfrm>
          <a:off x="0" y="0"/>
          <a:ext cx="0" cy="0"/>
          <a:chOff x="0" y="0"/>
          <a:chExt cx="0" cy="0"/>
        </a:xfrm>
      </p:grpSpPr>
      <p:sp>
        <p:nvSpPr>
          <p:cNvPr id="27" name="Google Shape;27;p27"/>
          <p:cNvSpPr txBox="1"/>
          <p:nvPr>
            <p:ph type="title"/>
          </p:nvPr>
        </p:nvSpPr>
        <p:spPr>
          <a:xfrm>
            <a:off x="457200" y="274320"/>
            <a:ext cx="82296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990000"/>
              </a:buClr>
              <a:buSzPts val="2100"/>
              <a:buFont typeface="Arial Black"/>
              <a:buNone/>
              <a:defRPr sz="2100">
                <a:solidFill>
                  <a:srgbClr val="990000"/>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pic>
        <p:nvPicPr>
          <p:cNvPr id="28" name="Google Shape;28;p27"/>
          <p:cNvPicPr preferRelativeResize="0"/>
          <p:nvPr/>
        </p:nvPicPr>
        <p:blipFill rotWithShape="1">
          <a:blip r:embed="rId2">
            <a:alphaModFix/>
          </a:blip>
          <a:srcRect b="0" l="0" r="0" t="0"/>
          <a:stretch/>
        </p:blipFill>
        <p:spPr>
          <a:xfrm>
            <a:off x="94442" y="4632722"/>
            <a:ext cx="737365" cy="461590"/>
          </a:xfrm>
          <a:prstGeom prst="rect">
            <a:avLst/>
          </a:prstGeom>
          <a:noFill/>
          <a:ln>
            <a:noFill/>
          </a:ln>
        </p:spPr>
      </p:pic>
      <p:sp>
        <p:nvSpPr>
          <p:cNvPr id="29" name="Google Shape;29;p27"/>
          <p:cNvSpPr txBox="1"/>
          <p:nvPr>
            <p:ph idx="1" type="body"/>
          </p:nvPr>
        </p:nvSpPr>
        <p:spPr>
          <a:xfrm>
            <a:off x="457200" y="1357884"/>
            <a:ext cx="8229600" cy="32712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sz="1800"/>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 Photo w/ Title and Content">
  <p:cSld name="2 Column - Photo w/ Title and Content">
    <p:bg>
      <p:bgPr>
        <a:solidFill>
          <a:schemeClr val="lt1"/>
        </a:solidFill>
      </p:bgPr>
    </p:bg>
    <p:spTree>
      <p:nvGrpSpPr>
        <p:cNvPr id="30" name="Shape 30"/>
        <p:cNvGrpSpPr/>
        <p:nvPr/>
      </p:nvGrpSpPr>
      <p:grpSpPr>
        <a:xfrm>
          <a:off x="0" y="0"/>
          <a:ext cx="0" cy="0"/>
          <a:chOff x="0" y="0"/>
          <a:chExt cx="0" cy="0"/>
        </a:xfrm>
      </p:grpSpPr>
      <p:pic>
        <p:nvPicPr>
          <p:cNvPr id="31" name="Google Shape;31;p31"/>
          <p:cNvPicPr preferRelativeResize="0"/>
          <p:nvPr/>
        </p:nvPicPr>
        <p:blipFill rotWithShape="1">
          <a:blip r:embed="rId2">
            <a:alphaModFix/>
          </a:blip>
          <a:srcRect b="0" l="0" r="0" t="0"/>
          <a:stretch/>
        </p:blipFill>
        <p:spPr>
          <a:xfrm>
            <a:off x="94442" y="4632722"/>
            <a:ext cx="737365" cy="461590"/>
          </a:xfrm>
          <a:prstGeom prst="rect">
            <a:avLst/>
          </a:prstGeom>
          <a:noFill/>
          <a:ln>
            <a:noFill/>
          </a:ln>
        </p:spPr>
      </p:pic>
      <p:sp>
        <p:nvSpPr>
          <p:cNvPr id="32" name="Google Shape;32;p31"/>
          <p:cNvSpPr/>
          <p:nvPr>
            <p:ph idx="2" type="pic"/>
          </p:nvPr>
        </p:nvSpPr>
        <p:spPr>
          <a:xfrm>
            <a:off x="459486" y="274320"/>
            <a:ext cx="4320600" cy="4258800"/>
          </a:xfrm>
          <a:prstGeom prst="rect">
            <a:avLst/>
          </a:prstGeom>
          <a:noFill/>
          <a:ln>
            <a:noFill/>
          </a:ln>
        </p:spPr>
      </p:sp>
      <p:sp>
        <p:nvSpPr>
          <p:cNvPr id="33" name="Google Shape;33;p31"/>
          <p:cNvSpPr txBox="1"/>
          <p:nvPr>
            <p:ph idx="1" type="body"/>
          </p:nvPr>
        </p:nvSpPr>
        <p:spPr>
          <a:xfrm>
            <a:off x="4919472" y="274320"/>
            <a:ext cx="3765300" cy="5694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990000"/>
              </a:buClr>
              <a:buSzPts val="1500"/>
              <a:buNone/>
              <a:defRPr b="1" i="0" sz="1500">
                <a:solidFill>
                  <a:srgbClr val="990000"/>
                </a:solidFill>
                <a:latin typeface="Arial Black"/>
                <a:ea typeface="Arial Black"/>
                <a:cs typeface="Arial Black"/>
                <a:sym typeface="Arial Black"/>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4" name="Google Shape;34;p31"/>
          <p:cNvSpPr txBox="1"/>
          <p:nvPr>
            <p:ph idx="3" type="body"/>
          </p:nvPr>
        </p:nvSpPr>
        <p:spPr>
          <a:xfrm>
            <a:off x="4919472" y="975598"/>
            <a:ext cx="3765300" cy="35574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400"/>
              <a:buNone/>
              <a:defRPr sz="1400"/>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90000"/>
              </a:lnSpc>
              <a:spcBef>
                <a:spcPts val="400"/>
              </a:spcBef>
              <a:spcAft>
                <a:spcPts val="0"/>
              </a:spcAft>
              <a:buClr>
                <a:schemeClr val="dk1"/>
              </a:buClr>
              <a:buSzPts val="1500"/>
              <a:buNone/>
              <a:defRPr/>
            </a:lvl3pPr>
            <a:lvl4pPr indent="-228600" lvl="3" marL="1828800" algn="l">
              <a:lnSpc>
                <a:spcPct val="90000"/>
              </a:lnSpc>
              <a:spcBef>
                <a:spcPts val="400"/>
              </a:spcBef>
              <a:spcAft>
                <a:spcPts val="0"/>
              </a:spcAft>
              <a:buClr>
                <a:schemeClr val="dk1"/>
              </a:buClr>
              <a:buSzPts val="1400"/>
              <a:buNone/>
              <a:defRPr/>
            </a:lvl4pPr>
            <a:lvl5pPr indent="-228600" lvl="4" marL="2286000" algn="l">
              <a:lnSpc>
                <a:spcPct val="90000"/>
              </a:lnSpc>
              <a:spcBef>
                <a:spcPts val="40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slideLayout" Target="../slideLayouts/slideLayout1.xml"/><Relationship Id="rId5" Type="http://schemas.openxmlformats.org/officeDocument/2006/relationships/slideLayout" Target="../slideLayouts/slideLayout2.xml"/><Relationship Id="rId6"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g314e746443e_0_289"/>
          <p:cNvSpPr/>
          <p:nvPr/>
        </p:nvSpPr>
        <p:spPr>
          <a:xfrm>
            <a:off x="0" y="0"/>
            <a:ext cx="9144000" cy="5142300"/>
          </a:xfrm>
          <a:prstGeom prst="rect">
            <a:avLst/>
          </a:prstGeom>
          <a:solidFill>
            <a:schemeClr val="dk1"/>
          </a:solidFill>
          <a:ln>
            <a:noFill/>
          </a:ln>
          <a:effectLst>
            <a:outerShdw blurRad="40000" rotWithShape="0" dir="5400000" dist="23000">
              <a:srgbClr val="000000">
                <a:alpha val="34117"/>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7" name="Google Shape;7;g314e746443e_0_289"/>
          <p:cNvSpPr/>
          <p:nvPr/>
        </p:nvSpPr>
        <p:spPr>
          <a:xfrm flipH="1" rot="10800000">
            <a:off x="0" y="4333875"/>
            <a:ext cx="9144000" cy="38100"/>
          </a:xfrm>
          <a:prstGeom prst="rect">
            <a:avLst/>
          </a:prstGeom>
          <a:solidFill>
            <a:srgbClr val="FFCC00"/>
          </a:solidFill>
          <a:ln>
            <a:noFill/>
          </a:ln>
          <a:effectLst>
            <a:outerShdw blurRad="40000" rotWithShape="0" dir="5400000" dist="20000">
              <a:srgbClr val="000000">
                <a:alpha val="37254"/>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1-lineWordmark_GoldOnCard_NoBG.eps" id="8" name="Google Shape;8;g314e746443e_0_289"/>
          <p:cNvPicPr preferRelativeResize="0"/>
          <p:nvPr/>
        </p:nvPicPr>
        <p:blipFill rotWithShape="1">
          <a:blip r:embed="rId1">
            <a:alphaModFix/>
          </a:blip>
          <a:srcRect b="0" l="0" r="0" t="0"/>
          <a:stretch/>
        </p:blipFill>
        <p:spPr>
          <a:xfrm>
            <a:off x="6997700" y="4884617"/>
            <a:ext cx="1366591" cy="116116"/>
          </a:xfrm>
          <a:prstGeom prst="rect">
            <a:avLst/>
          </a:prstGeom>
          <a:noFill/>
          <a:ln>
            <a:noFill/>
          </a:ln>
        </p:spPr>
      </p:pic>
      <p:pic>
        <p:nvPicPr>
          <p:cNvPr descr="Dornsife_Formal_FullTag_GoldOnCard_NoBG.eps" id="9" name="Google Shape;9;g314e746443e_0_289"/>
          <p:cNvPicPr preferRelativeResize="0"/>
          <p:nvPr/>
        </p:nvPicPr>
        <p:blipFill rotWithShape="1">
          <a:blip r:embed="rId2">
            <a:alphaModFix/>
          </a:blip>
          <a:srcRect b="0" l="0" r="0" t="0"/>
          <a:stretch/>
        </p:blipFill>
        <p:spPr>
          <a:xfrm>
            <a:off x="330213" y="4537197"/>
            <a:ext cx="1784668" cy="455173"/>
          </a:xfrm>
          <a:prstGeom prst="rect">
            <a:avLst/>
          </a:prstGeom>
          <a:noFill/>
          <a:ln>
            <a:noFill/>
          </a:ln>
        </p:spPr>
      </p:pic>
      <p:pic>
        <p:nvPicPr>
          <p:cNvPr descr="Small Use Shield_GoldOnTrans.eps" id="10" name="Google Shape;10;g314e746443e_0_289"/>
          <p:cNvPicPr preferRelativeResize="0"/>
          <p:nvPr/>
        </p:nvPicPr>
        <p:blipFill rotWithShape="1">
          <a:blip r:embed="rId3">
            <a:alphaModFix/>
          </a:blip>
          <a:srcRect b="0" l="0" r="0" t="0"/>
          <a:stretch/>
        </p:blipFill>
        <p:spPr>
          <a:xfrm>
            <a:off x="8201027" y="178595"/>
            <a:ext cx="561180" cy="56118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4"/>
    <p:sldLayoutId id="2147483650"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 name="Shape 16"/>
        <p:cNvGrpSpPr/>
        <p:nvPr/>
      </p:nvGrpSpPr>
      <p:grpSpPr>
        <a:xfrm>
          <a:off x="0" y="0"/>
          <a:ext cx="0" cy="0"/>
          <a:chOff x="0" y="0"/>
          <a:chExt cx="0" cy="0"/>
        </a:xfrm>
      </p:grpSpPr>
      <p:pic>
        <p:nvPicPr>
          <p:cNvPr id="17" name="Google Shape;17;p26"/>
          <p:cNvPicPr preferRelativeResize="0"/>
          <p:nvPr/>
        </p:nvPicPr>
        <p:blipFill rotWithShape="1">
          <a:blip r:embed="rId1">
            <a:alphaModFix amt="5000"/>
          </a:blip>
          <a:srcRect b="0" l="0" r="0" t="0"/>
          <a:stretch/>
        </p:blipFill>
        <p:spPr>
          <a:xfrm>
            <a:off x="3646610" y="-467419"/>
            <a:ext cx="6078339" cy="6078339"/>
          </a:xfrm>
          <a:prstGeom prst="rect">
            <a:avLst/>
          </a:prstGeom>
          <a:noFill/>
          <a:ln>
            <a:noFill/>
          </a:ln>
        </p:spPr>
      </p:pic>
      <p:sp>
        <p:nvSpPr>
          <p:cNvPr id="18" name="Google Shape;18;p26"/>
          <p:cNvSpPr txBox="1"/>
          <p:nvPr>
            <p:ph type="title"/>
          </p:nvPr>
        </p:nvSpPr>
        <p:spPr>
          <a:xfrm>
            <a:off x="459486" y="273844"/>
            <a:ext cx="8229600" cy="994200"/>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rgbClr val="990000"/>
              </a:buClr>
              <a:buSzPts val="2100"/>
              <a:buFont typeface="Arial Black"/>
              <a:buNone/>
              <a:defRPr b="1" i="0" sz="2100" u="none" cap="none" strike="noStrike">
                <a:solidFill>
                  <a:srgbClr val="990000"/>
                </a:solidFill>
                <a:latin typeface="Arial Black"/>
                <a:ea typeface="Arial Black"/>
                <a:cs typeface="Arial Black"/>
                <a:sym typeface="Arial Black"/>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19" name="Google Shape;19;p26"/>
          <p:cNvSpPr txBox="1"/>
          <p:nvPr>
            <p:ph idx="1" type="body"/>
          </p:nvPr>
        </p:nvSpPr>
        <p:spPr>
          <a:xfrm>
            <a:off x="459486" y="1369219"/>
            <a:ext cx="8229600" cy="3263400"/>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pic>
        <p:nvPicPr>
          <p:cNvPr id="20" name="Google Shape;20;p26"/>
          <p:cNvPicPr preferRelativeResize="0"/>
          <p:nvPr/>
        </p:nvPicPr>
        <p:blipFill rotWithShape="1">
          <a:blip r:embed="rId2">
            <a:alphaModFix/>
          </a:blip>
          <a:srcRect b="0" l="0" r="0" t="0"/>
          <a:stretch/>
        </p:blipFill>
        <p:spPr>
          <a:xfrm>
            <a:off x="94442" y="4632722"/>
            <a:ext cx="737365" cy="46159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2" r:id="rId3"/>
    <p:sldLayoutId id="2147483653" r:id="rId4"/>
    <p:sldLayoutId id="2147483654"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6.png"/><Relationship Id="rId4" Type="http://schemas.openxmlformats.org/officeDocument/2006/relationships/image" Target="../media/image17.png"/><Relationship Id="rId5" Type="http://schemas.openxmlformats.org/officeDocument/2006/relationships/image" Target="../media/image19.png"/><Relationship Id="rId6"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s://www.statista.com/statistics/1351276/wage-growth-vs-inflation-us/" TargetMode="External"/><Relationship Id="rId4" Type="http://schemas.openxmlformats.org/officeDocument/2006/relationships/hyperlink" Target="https://data.bls.gov/dataViewer/view/timeseries/CUSR0000SA0" TargetMode="External"/><Relationship Id="rId10" Type="http://schemas.openxmlformats.org/officeDocument/2006/relationships/hyperlink" Target="https://www.ilo.org/resource/news/rising-inflation-brings-striking-fall-real-wages-ilo-report-finds" TargetMode="External"/><Relationship Id="rId9" Type="http://schemas.openxmlformats.org/officeDocument/2006/relationships/hyperlink" Target="https://www.bls.gov/cpi/" TargetMode="External"/><Relationship Id="rId5" Type="http://schemas.openxmlformats.org/officeDocument/2006/relationships/hyperlink" Target="https://www.atlantafed.org/chcs/wage-growth-tracker" TargetMode="External"/><Relationship Id="rId6" Type="http://schemas.openxmlformats.org/officeDocument/2006/relationships/hyperlink" Target="https://fred.stlouisfed.org/series/POPTHM" TargetMode="External"/><Relationship Id="rId7" Type="http://schemas.openxmlformats.org/officeDocument/2006/relationships/hyperlink" Target="https://www.spglobal.com/marketintelligence/en/mi/products/us-monthly-gdp-index.html#:~:text=We%20calculate%20the%20MGDP%20in,our%20archives%20of%20the%20MGDP" TargetMode="External"/><Relationship Id="rId8" Type="http://schemas.openxmlformats.org/officeDocument/2006/relationships/hyperlink" Target="https://www.bls.gov/opub/mlr/2023/beyond-bls/what-caused-inflation-to-spike-after-2020.htm"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 name="Shape 39"/>
        <p:cNvGrpSpPr/>
        <p:nvPr/>
      </p:nvGrpSpPr>
      <p:grpSpPr>
        <a:xfrm>
          <a:off x="0" y="0"/>
          <a:ext cx="0" cy="0"/>
          <a:chOff x="0" y="0"/>
          <a:chExt cx="0" cy="0"/>
        </a:xfrm>
      </p:grpSpPr>
      <p:sp>
        <p:nvSpPr>
          <p:cNvPr id="40" name="Google Shape;40;g314e746443e_0_283"/>
          <p:cNvSpPr txBox="1"/>
          <p:nvPr/>
        </p:nvSpPr>
        <p:spPr>
          <a:xfrm>
            <a:off x="606789" y="1109595"/>
            <a:ext cx="7930420" cy="1433579"/>
          </a:xfrm>
          <a:prstGeom prst="rect">
            <a:avLst/>
          </a:prstGeom>
          <a:noFill/>
          <a:ln>
            <a:noFill/>
          </a:ln>
        </p:spPr>
        <p:txBody>
          <a:bodyPr anchorCtr="0" anchor="ctr" bIns="34275" lIns="68575" spcFirstLastPara="1" rIns="68575" wrap="square" tIns="34275">
            <a:normAutofit/>
          </a:bodyPr>
          <a:lstStyle/>
          <a:p>
            <a:pPr indent="0" lvl="0" marL="0" marR="0" rtl="0" algn="ctr">
              <a:lnSpc>
                <a:spcPct val="100000"/>
              </a:lnSpc>
              <a:spcBef>
                <a:spcPts val="0"/>
              </a:spcBef>
              <a:spcAft>
                <a:spcPts val="0"/>
              </a:spcAft>
              <a:buClr>
                <a:schemeClr val="lt2"/>
              </a:buClr>
              <a:buSzPts val="2400"/>
              <a:buFont typeface="Arial"/>
              <a:buNone/>
            </a:pPr>
            <a:r>
              <a:rPr b="0" i="1" lang="en-US" sz="3200" u="none" cap="none" strike="noStrike">
                <a:solidFill>
                  <a:srgbClr val="ECECEC"/>
                </a:solidFill>
                <a:latin typeface="Times New Roman"/>
                <a:ea typeface="Times New Roman"/>
                <a:cs typeface="Times New Roman"/>
                <a:sym typeface="Times New Roman"/>
              </a:rPr>
              <a:t>The Impact of Recent Inflation on Wage Growth</a:t>
            </a:r>
            <a:r>
              <a:rPr i="1" lang="en-US" sz="3200">
                <a:solidFill>
                  <a:srgbClr val="ECECEC"/>
                </a:solidFill>
                <a:latin typeface="Times New Roman"/>
                <a:ea typeface="Times New Roman"/>
                <a:cs typeface="Times New Roman"/>
                <a:sym typeface="Times New Roman"/>
              </a:rPr>
              <a:t> </a:t>
            </a:r>
            <a:r>
              <a:rPr b="0" i="1" lang="en-US" sz="3200" u="none" cap="none" strike="noStrike">
                <a:solidFill>
                  <a:srgbClr val="ECECEC"/>
                </a:solidFill>
                <a:latin typeface="Times New Roman"/>
                <a:ea typeface="Times New Roman"/>
                <a:cs typeface="Times New Roman"/>
                <a:sym typeface="Times New Roman"/>
              </a:rPr>
              <a:t>In US </a:t>
            </a:r>
            <a:endParaRPr b="0" i="0" sz="3200" u="none" cap="none" strike="noStrike">
              <a:solidFill>
                <a:schemeClr val="lt2"/>
              </a:solidFill>
              <a:latin typeface="Times New Roman"/>
              <a:ea typeface="Times New Roman"/>
              <a:cs typeface="Times New Roman"/>
              <a:sym typeface="Times New Roman"/>
            </a:endParaRPr>
          </a:p>
        </p:txBody>
      </p:sp>
      <p:sp>
        <p:nvSpPr>
          <p:cNvPr id="41" name="Google Shape;41;g314e746443e_0_283"/>
          <p:cNvSpPr txBox="1"/>
          <p:nvPr/>
        </p:nvSpPr>
        <p:spPr>
          <a:xfrm>
            <a:off x="7349" y="2543174"/>
            <a:ext cx="9129300" cy="562200"/>
          </a:xfrm>
          <a:prstGeom prst="rect">
            <a:avLst/>
          </a:prstGeom>
          <a:noFill/>
          <a:ln>
            <a:noFill/>
          </a:ln>
        </p:spPr>
        <p:txBody>
          <a:bodyPr anchorCtr="0" anchor="t" bIns="34275" lIns="68575" spcFirstLastPara="1" rIns="68575" wrap="square" tIns="34275">
            <a:normAutofit/>
          </a:bodyPr>
          <a:lstStyle/>
          <a:p>
            <a:pPr indent="0" lvl="0" marL="0" marR="0" rtl="0" algn="ctr">
              <a:lnSpc>
                <a:spcPct val="100000"/>
              </a:lnSpc>
              <a:spcBef>
                <a:spcPts val="0"/>
              </a:spcBef>
              <a:spcAft>
                <a:spcPts val="0"/>
              </a:spcAft>
              <a:buClr>
                <a:schemeClr val="lt1"/>
              </a:buClr>
              <a:buSzPts val="1946"/>
              <a:buFont typeface="Arial"/>
              <a:buNone/>
            </a:pPr>
            <a:r>
              <a:rPr b="0" i="1" lang="en-US" sz="1800" u="none" cap="none" strike="noStrike">
                <a:solidFill>
                  <a:schemeClr val="lt1"/>
                </a:solidFill>
                <a:latin typeface="Times New Roman"/>
                <a:ea typeface="Times New Roman"/>
                <a:cs typeface="Times New Roman"/>
                <a:sym typeface="Times New Roman"/>
              </a:rPr>
              <a:t>Presented by: Luk</a:t>
            </a:r>
            <a:r>
              <a:rPr i="1" lang="en-US" sz="1800">
                <a:solidFill>
                  <a:schemeClr val="lt1"/>
                </a:solidFill>
                <a:latin typeface="Times New Roman"/>
                <a:ea typeface="Times New Roman"/>
                <a:cs typeface="Times New Roman"/>
                <a:sym typeface="Times New Roman"/>
              </a:rPr>
              <a:t>e Alati, Rand Aldawish, Geoff Feinstein, </a:t>
            </a:r>
            <a:r>
              <a:rPr i="1" lang="en-US" sz="1800">
                <a:solidFill>
                  <a:schemeClr val="lt1"/>
                </a:solidFill>
                <a:latin typeface="Times New Roman"/>
                <a:ea typeface="Times New Roman"/>
                <a:cs typeface="Times New Roman"/>
                <a:sym typeface="Times New Roman"/>
              </a:rPr>
              <a:t>Sizhe</a:t>
            </a:r>
            <a:r>
              <a:rPr i="1" lang="en-US" sz="1800">
                <a:solidFill>
                  <a:schemeClr val="lt1"/>
                </a:solidFill>
                <a:latin typeface="Times New Roman"/>
                <a:ea typeface="Times New Roman"/>
                <a:cs typeface="Times New Roman"/>
                <a:sym typeface="Times New Roman"/>
              </a:rPr>
              <a:t> Liu, Ibukun Kolade</a:t>
            </a:r>
            <a:endParaRPr b="0" i="1" sz="18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pic>
        <p:nvPicPr>
          <p:cNvPr id="46" name="Google Shape;46;p9"/>
          <p:cNvPicPr preferRelativeResize="0"/>
          <p:nvPr/>
        </p:nvPicPr>
        <p:blipFill rotWithShape="1">
          <a:blip r:embed="rId3">
            <a:alphaModFix/>
          </a:blip>
          <a:srcRect b="0" l="0" r="0" t="0"/>
          <a:stretch/>
        </p:blipFill>
        <p:spPr>
          <a:xfrm>
            <a:off x="1364876" y="956585"/>
            <a:ext cx="6414247" cy="323033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pic>
        <p:nvPicPr>
          <p:cNvPr descr="A graph showing the growth of a stock market&#10;&#10;Description automatically generated" id="51" name="Google Shape;51;p11"/>
          <p:cNvPicPr preferRelativeResize="0"/>
          <p:nvPr/>
        </p:nvPicPr>
        <p:blipFill rotWithShape="1">
          <a:blip r:embed="rId3">
            <a:alphaModFix/>
          </a:blip>
          <a:srcRect b="0" l="0" r="0" t="0"/>
          <a:stretch/>
        </p:blipFill>
        <p:spPr>
          <a:xfrm>
            <a:off x="1112733" y="295916"/>
            <a:ext cx="6918533" cy="455166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grpSp>
        <p:nvGrpSpPr>
          <p:cNvPr id="56" name="Google Shape;56;p32"/>
          <p:cNvGrpSpPr/>
          <p:nvPr/>
        </p:nvGrpSpPr>
        <p:grpSpPr>
          <a:xfrm>
            <a:off x="1406788" y="535515"/>
            <a:ext cx="6330424" cy="4451903"/>
            <a:chOff x="1406788" y="535515"/>
            <a:chExt cx="6330424" cy="4451903"/>
          </a:xfrm>
        </p:grpSpPr>
        <p:pic>
          <p:nvPicPr>
            <p:cNvPr descr="A graph showing the number of unemployment rate&#10;&#10;Description automatically generated" id="57" name="Google Shape;57;p32"/>
            <p:cNvPicPr preferRelativeResize="0"/>
            <p:nvPr/>
          </p:nvPicPr>
          <p:blipFill rotWithShape="1">
            <a:blip r:embed="rId3">
              <a:alphaModFix/>
            </a:blip>
            <a:srcRect b="5611" l="0" r="0" t="16784"/>
            <a:stretch/>
          </p:blipFill>
          <p:spPr>
            <a:xfrm>
              <a:off x="1406788" y="776486"/>
              <a:ext cx="6330417" cy="4210932"/>
            </a:xfrm>
            <a:prstGeom prst="rect">
              <a:avLst/>
            </a:prstGeom>
            <a:noFill/>
            <a:ln>
              <a:noFill/>
            </a:ln>
          </p:spPr>
        </p:pic>
        <p:pic>
          <p:nvPicPr>
            <p:cNvPr descr="A graph showing the number of unemployment rate&#10;&#10;Description automatically generated" id="58" name="Google Shape;58;p32"/>
            <p:cNvPicPr preferRelativeResize="0"/>
            <p:nvPr/>
          </p:nvPicPr>
          <p:blipFill rotWithShape="1">
            <a:blip r:embed="rId3">
              <a:alphaModFix/>
            </a:blip>
            <a:srcRect b="95559" l="0" r="0" t="0"/>
            <a:stretch/>
          </p:blipFill>
          <p:spPr>
            <a:xfrm>
              <a:off x="1406791" y="535515"/>
              <a:ext cx="6330421" cy="240971"/>
            </a:xfrm>
            <a:prstGeom prst="rect">
              <a:avLst/>
            </a:prstGeom>
            <a:noFill/>
            <a:ln>
              <a:noFill/>
            </a:ln>
          </p:spPr>
        </p:pic>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g31abb364ef2_4_2"/>
          <p:cNvSpPr txBox="1"/>
          <p:nvPr>
            <p:ph type="title"/>
          </p:nvPr>
        </p:nvSpPr>
        <p:spPr>
          <a:xfrm>
            <a:off x="457200" y="274320"/>
            <a:ext cx="82296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990000"/>
              </a:buClr>
              <a:buSzPts val="2100"/>
              <a:buFont typeface="Arial Black"/>
              <a:buNone/>
            </a:pPr>
            <a:r>
              <a:rPr lang="en-US" sz="2000"/>
              <a:t>Background</a:t>
            </a:r>
            <a:endParaRPr sz="2000"/>
          </a:p>
        </p:txBody>
      </p:sp>
      <p:sp>
        <p:nvSpPr>
          <p:cNvPr id="64" name="Google Shape;64;g31abb364ef2_4_2"/>
          <p:cNvSpPr txBox="1"/>
          <p:nvPr/>
        </p:nvSpPr>
        <p:spPr>
          <a:xfrm>
            <a:off x="457200" y="1411829"/>
            <a:ext cx="7166100" cy="3016800"/>
          </a:xfrm>
          <a:prstGeom prst="rect">
            <a:avLst/>
          </a:prstGeom>
          <a:noFill/>
          <a:ln>
            <a:noFill/>
          </a:ln>
        </p:spPr>
        <p:txBody>
          <a:bodyPr anchorCtr="0" anchor="t" bIns="45700" lIns="91425" spcFirstLastPara="1" rIns="91425" wrap="square" tIns="45700">
            <a:spAutoFit/>
          </a:bodyPr>
          <a:lstStyle/>
          <a:p>
            <a:pPr indent="-317500" lvl="0" marL="457200" marR="0" rtl="0" algn="l">
              <a:lnSpc>
                <a:spcPct val="200000"/>
              </a:lnSpc>
              <a:spcBef>
                <a:spcPts val="0"/>
              </a:spcBef>
              <a:spcAft>
                <a:spcPts val="0"/>
              </a:spcAft>
              <a:buClr>
                <a:schemeClr val="dk1"/>
              </a:buClr>
              <a:buSzPts val="1400"/>
              <a:buFont typeface="Times New Roman"/>
              <a:buChar char="●"/>
            </a:pPr>
            <a:r>
              <a:rPr b="1" lang="en-US">
                <a:solidFill>
                  <a:schemeClr val="dk1"/>
                </a:solidFill>
                <a:latin typeface="Times New Roman"/>
                <a:ea typeface="Times New Roman"/>
                <a:cs typeface="Times New Roman"/>
                <a:sym typeface="Times New Roman"/>
              </a:rPr>
              <a:t>Inflation catalysts:</a:t>
            </a:r>
            <a:endParaRPr b="1">
              <a:solidFill>
                <a:schemeClr val="dk1"/>
              </a:solidFill>
              <a:latin typeface="Times New Roman"/>
              <a:ea typeface="Times New Roman"/>
              <a:cs typeface="Times New Roman"/>
              <a:sym typeface="Times New Roman"/>
            </a:endParaRPr>
          </a:p>
          <a:p>
            <a:pPr indent="-330200" lvl="1" marL="914400" marR="0" rtl="0" algn="l">
              <a:lnSpc>
                <a:spcPct val="200000"/>
              </a:lnSpc>
              <a:spcBef>
                <a:spcPts val="0"/>
              </a:spcBef>
              <a:spcAft>
                <a:spcPts val="0"/>
              </a:spcAft>
              <a:buClr>
                <a:schemeClr val="dk1"/>
              </a:buClr>
              <a:buSzPts val="1600"/>
              <a:buFont typeface="Times New Roman"/>
              <a:buChar char="○"/>
            </a:pPr>
            <a:r>
              <a:rPr lang="en-US">
                <a:solidFill>
                  <a:schemeClr val="dk1"/>
                </a:solidFill>
                <a:latin typeface="Times New Roman"/>
                <a:ea typeface="Times New Roman"/>
                <a:cs typeface="Times New Roman"/>
                <a:sym typeface="Times New Roman"/>
              </a:rPr>
              <a:t>Supply chain disruptions</a:t>
            </a:r>
            <a:endParaRPr>
              <a:latin typeface="Times New Roman"/>
              <a:ea typeface="Times New Roman"/>
              <a:cs typeface="Times New Roman"/>
              <a:sym typeface="Times New Roman"/>
            </a:endParaRPr>
          </a:p>
          <a:p>
            <a:pPr indent="-330200" lvl="1" marL="914400" marR="0" rtl="0" algn="l">
              <a:lnSpc>
                <a:spcPct val="200000"/>
              </a:lnSpc>
              <a:spcBef>
                <a:spcPts val="0"/>
              </a:spcBef>
              <a:spcAft>
                <a:spcPts val="0"/>
              </a:spcAft>
              <a:buClr>
                <a:schemeClr val="dk1"/>
              </a:buClr>
              <a:buSzPts val="1600"/>
              <a:buFont typeface="Times New Roman"/>
              <a:buChar char="○"/>
            </a:pPr>
            <a:r>
              <a:rPr lang="en-US">
                <a:solidFill>
                  <a:schemeClr val="dk1"/>
                </a:solidFill>
                <a:latin typeface="Times New Roman"/>
                <a:ea typeface="Times New Roman"/>
                <a:cs typeface="Times New Roman"/>
                <a:sym typeface="Times New Roman"/>
              </a:rPr>
              <a:t>Increases in minimum wage</a:t>
            </a:r>
            <a:endParaRPr>
              <a:solidFill>
                <a:schemeClr val="dk1"/>
              </a:solidFill>
              <a:latin typeface="Times New Roman"/>
              <a:ea typeface="Times New Roman"/>
              <a:cs typeface="Times New Roman"/>
              <a:sym typeface="Times New Roman"/>
            </a:endParaRPr>
          </a:p>
          <a:p>
            <a:pPr indent="-317500" lvl="0" marL="457200" marR="0" rtl="0" algn="l">
              <a:lnSpc>
                <a:spcPct val="200000"/>
              </a:lnSpc>
              <a:spcBef>
                <a:spcPts val="0"/>
              </a:spcBef>
              <a:spcAft>
                <a:spcPts val="0"/>
              </a:spcAft>
              <a:buClr>
                <a:schemeClr val="dk1"/>
              </a:buClr>
              <a:buSzPts val="1400"/>
              <a:buFont typeface="Times New Roman"/>
              <a:buChar char="●"/>
            </a:pPr>
            <a:r>
              <a:rPr b="1" lang="en-US">
                <a:solidFill>
                  <a:schemeClr val="dk1"/>
                </a:solidFill>
                <a:latin typeface="Times New Roman"/>
                <a:ea typeface="Times New Roman"/>
                <a:cs typeface="Times New Roman"/>
                <a:sym typeface="Times New Roman"/>
              </a:rPr>
              <a:t>High prices have remained persistent</a:t>
            </a:r>
            <a:endParaRPr b="1">
              <a:solidFill>
                <a:schemeClr val="dk1"/>
              </a:solidFill>
              <a:latin typeface="Times New Roman"/>
              <a:ea typeface="Times New Roman"/>
              <a:cs typeface="Times New Roman"/>
              <a:sym typeface="Times New Roman"/>
            </a:endParaRPr>
          </a:p>
          <a:p>
            <a:pPr indent="-317500" lvl="1" marL="914400" marR="0" rtl="0" algn="l">
              <a:lnSpc>
                <a:spcPct val="200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Grocery </a:t>
            </a:r>
            <a:r>
              <a:rPr lang="en-US">
                <a:solidFill>
                  <a:schemeClr val="dk1"/>
                </a:solidFill>
                <a:latin typeface="Times New Roman"/>
                <a:ea typeface="Times New Roman"/>
                <a:cs typeface="Times New Roman"/>
                <a:sym typeface="Times New Roman"/>
              </a:rPr>
              <a:t>stores</a:t>
            </a:r>
            <a:r>
              <a:rPr lang="en-US">
                <a:solidFill>
                  <a:schemeClr val="dk1"/>
                </a:solidFill>
                <a:latin typeface="Times New Roman"/>
                <a:ea typeface="Times New Roman"/>
                <a:cs typeface="Times New Roman"/>
                <a:sym typeface="Times New Roman"/>
              </a:rPr>
              <a:t>, gas prices, online shopping</a:t>
            </a:r>
            <a:endParaRPr>
              <a:solidFill>
                <a:schemeClr val="dk1"/>
              </a:solidFill>
              <a:latin typeface="Times New Roman"/>
              <a:ea typeface="Times New Roman"/>
              <a:cs typeface="Times New Roman"/>
              <a:sym typeface="Times New Roman"/>
            </a:endParaRPr>
          </a:p>
          <a:p>
            <a:pPr indent="-317500" lvl="0" marL="457200" marR="0" rtl="0" algn="l">
              <a:lnSpc>
                <a:spcPct val="200000"/>
              </a:lnSpc>
              <a:spcBef>
                <a:spcPts val="0"/>
              </a:spcBef>
              <a:spcAft>
                <a:spcPts val="0"/>
              </a:spcAft>
              <a:buClr>
                <a:schemeClr val="dk1"/>
              </a:buClr>
              <a:buSzPts val="1400"/>
              <a:buFont typeface="Times New Roman"/>
              <a:buChar char="●"/>
            </a:pPr>
            <a:r>
              <a:rPr b="1" lang="en-US">
                <a:solidFill>
                  <a:schemeClr val="dk1"/>
                </a:solidFill>
                <a:latin typeface="Times New Roman"/>
                <a:ea typeface="Times New Roman"/>
                <a:cs typeface="Times New Roman"/>
                <a:sym typeface="Times New Roman"/>
              </a:rPr>
              <a:t>As we all are master’s students about to enter the workforce, we </a:t>
            </a:r>
            <a:r>
              <a:rPr b="1" lang="en-US">
                <a:solidFill>
                  <a:schemeClr val="dk1"/>
                </a:solidFill>
                <a:latin typeface="Times New Roman"/>
                <a:ea typeface="Times New Roman"/>
                <a:cs typeface="Times New Roman"/>
                <a:sym typeface="Times New Roman"/>
              </a:rPr>
              <a:t>wanted</a:t>
            </a:r>
            <a:r>
              <a:rPr b="1" lang="en-US">
                <a:solidFill>
                  <a:schemeClr val="dk1"/>
                </a:solidFill>
                <a:latin typeface="Times New Roman"/>
                <a:ea typeface="Times New Roman"/>
                <a:cs typeface="Times New Roman"/>
                <a:sym typeface="Times New Roman"/>
              </a:rPr>
              <a:t> to look at </a:t>
            </a:r>
            <a:r>
              <a:rPr b="1" lang="en-US">
                <a:solidFill>
                  <a:schemeClr val="dk1"/>
                </a:solidFill>
                <a:latin typeface="Times New Roman"/>
                <a:ea typeface="Times New Roman"/>
                <a:cs typeface="Times New Roman"/>
                <a:sym typeface="Times New Roman"/>
              </a:rPr>
              <a:t>inflation</a:t>
            </a:r>
            <a:r>
              <a:rPr b="1" lang="en-US">
                <a:solidFill>
                  <a:schemeClr val="dk1"/>
                </a:solidFill>
                <a:latin typeface="Times New Roman"/>
                <a:ea typeface="Times New Roman"/>
                <a:cs typeface="Times New Roman"/>
                <a:sym typeface="Times New Roman"/>
              </a:rPr>
              <a:t> and wage growth</a:t>
            </a:r>
            <a:endParaRPr b="1" sz="16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
          <p:cNvSpPr txBox="1"/>
          <p:nvPr>
            <p:ph type="title"/>
          </p:nvPr>
        </p:nvSpPr>
        <p:spPr>
          <a:xfrm>
            <a:off x="457200" y="274320"/>
            <a:ext cx="82296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990000"/>
              </a:buClr>
              <a:buSzPts val="2100"/>
              <a:buFont typeface="Arial Black"/>
              <a:buNone/>
            </a:pPr>
            <a:r>
              <a:rPr lang="en-US" sz="2000"/>
              <a:t>Background</a:t>
            </a:r>
            <a:endParaRPr sz="2000"/>
          </a:p>
        </p:txBody>
      </p:sp>
      <p:sp>
        <p:nvSpPr>
          <p:cNvPr id="70" name="Google Shape;70;p1"/>
          <p:cNvSpPr txBox="1"/>
          <p:nvPr/>
        </p:nvSpPr>
        <p:spPr>
          <a:xfrm>
            <a:off x="457200" y="1473000"/>
            <a:ext cx="7838100" cy="2462700"/>
          </a:xfrm>
          <a:prstGeom prst="rect">
            <a:avLst/>
          </a:prstGeom>
          <a:noFill/>
          <a:ln>
            <a:noFill/>
          </a:ln>
        </p:spPr>
        <p:txBody>
          <a:bodyPr anchorCtr="0" anchor="t" bIns="45700" lIns="91425" spcFirstLastPara="1" rIns="91425" wrap="square" tIns="45700">
            <a:spAutoFit/>
          </a:bodyPr>
          <a:lstStyle/>
          <a:p>
            <a:pPr indent="0" lvl="0" marL="120650" marR="0" rtl="0" algn="l">
              <a:lnSpc>
                <a:spcPct val="200000"/>
              </a:lnSpc>
              <a:spcBef>
                <a:spcPts val="0"/>
              </a:spcBef>
              <a:spcAft>
                <a:spcPts val="0"/>
              </a:spcAft>
              <a:buNone/>
            </a:pPr>
            <a:r>
              <a:rPr b="1" i="0" lang="en-US" sz="1400" u="none" cap="none" strike="noStrike">
                <a:solidFill>
                  <a:schemeClr val="dk1"/>
                </a:solidFill>
                <a:latin typeface="Times New Roman"/>
                <a:ea typeface="Times New Roman"/>
                <a:cs typeface="Times New Roman"/>
                <a:sym typeface="Times New Roman"/>
              </a:rPr>
              <a:t>Objective:</a:t>
            </a:r>
            <a:endParaRPr/>
          </a:p>
          <a:p>
            <a:pPr indent="-317500" lvl="0" marL="457200" marR="0" rtl="0" algn="l">
              <a:lnSpc>
                <a:spcPct val="200000"/>
              </a:lnSpc>
              <a:spcBef>
                <a:spcPts val="0"/>
              </a:spcBef>
              <a:spcAft>
                <a:spcPts val="0"/>
              </a:spcAft>
              <a:buClr>
                <a:srgbClr val="000000"/>
              </a:buClr>
              <a:buSzPts val="1400"/>
              <a:buFont typeface="Times New Roman"/>
              <a:buChar char="●"/>
            </a:pPr>
            <a:r>
              <a:rPr b="1" lang="en-US">
                <a:solidFill>
                  <a:schemeClr val="dk1"/>
                </a:solidFill>
                <a:latin typeface="Times New Roman"/>
                <a:ea typeface="Times New Roman"/>
                <a:cs typeface="Times New Roman"/>
                <a:sym typeface="Times New Roman"/>
              </a:rPr>
              <a:t>Investigate</a:t>
            </a:r>
            <a:r>
              <a:rPr b="1" lang="en-US">
                <a:solidFill>
                  <a:schemeClr val="dk1"/>
                </a:solidFill>
                <a:latin typeface="Times New Roman"/>
                <a:ea typeface="Times New Roman"/>
                <a:cs typeface="Times New Roman"/>
                <a:sym typeface="Times New Roman"/>
              </a:rPr>
              <a:t> t</a:t>
            </a:r>
            <a:r>
              <a:rPr b="1" i="0" lang="en-US" sz="1400" u="none" cap="none" strike="noStrike">
                <a:solidFill>
                  <a:schemeClr val="dk1"/>
                </a:solidFill>
                <a:latin typeface="Times New Roman"/>
                <a:ea typeface="Times New Roman"/>
                <a:cs typeface="Times New Roman"/>
                <a:sym typeface="Times New Roman"/>
              </a:rPr>
              <a:t>he relationship between inflation</a:t>
            </a:r>
            <a:r>
              <a:rPr b="1" lang="en-US">
                <a:solidFill>
                  <a:schemeClr val="dk1"/>
                </a:solidFill>
                <a:latin typeface="Times New Roman"/>
                <a:ea typeface="Times New Roman"/>
                <a:cs typeface="Times New Roman"/>
                <a:sym typeface="Times New Roman"/>
              </a:rPr>
              <a:t> and </a:t>
            </a:r>
            <a:r>
              <a:rPr b="1" i="0" lang="en-US" sz="1400" u="none" cap="none" strike="noStrike">
                <a:solidFill>
                  <a:schemeClr val="dk1"/>
                </a:solidFill>
                <a:latin typeface="Times New Roman"/>
                <a:ea typeface="Times New Roman"/>
                <a:cs typeface="Times New Roman"/>
                <a:sym typeface="Times New Roman"/>
              </a:rPr>
              <a:t>wage growth</a:t>
            </a:r>
            <a:r>
              <a:rPr b="1" lang="en-US">
                <a:solidFill>
                  <a:schemeClr val="dk1"/>
                </a:solidFill>
                <a:latin typeface="Times New Roman"/>
                <a:ea typeface="Times New Roman"/>
                <a:cs typeface="Times New Roman"/>
                <a:sym typeface="Times New Roman"/>
              </a:rPr>
              <a:t> </a:t>
            </a:r>
            <a:r>
              <a:rPr b="1" i="0" lang="en-US" sz="1400" u="none" cap="none" strike="noStrike">
                <a:solidFill>
                  <a:schemeClr val="dk1"/>
                </a:solidFill>
                <a:latin typeface="Times New Roman"/>
                <a:ea typeface="Times New Roman"/>
                <a:cs typeface="Times New Roman"/>
                <a:sym typeface="Times New Roman"/>
              </a:rPr>
              <a:t>in the U.S.</a:t>
            </a:r>
            <a:endParaRPr b="1">
              <a:solidFill>
                <a:schemeClr val="dk1"/>
              </a:solidFill>
              <a:latin typeface="Times New Roman"/>
              <a:ea typeface="Times New Roman"/>
              <a:cs typeface="Times New Roman"/>
              <a:sym typeface="Times New Roman"/>
            </a:endParaRPr>
          </a:p>
          <a:p>
            <a:pPr indent="-317500" lvl="0" marL="457200" marR="0" rtl="0" algn="l">
              <a:lnSpc>
                <a:spcPct val="200000"/>
              </a:lnSpc>
              <a:spcBef>
                <a:spcPts val="0"/>
              </a:spcBef>
              <a:spcAft>
                <a:spcPts val="0"/>
              </a:spcAft>
              <a:buClr>
                <a:srgbClr val="000000"/>
              </a:buClr>
              <a:buSzPts val="1400"/>
              <a:buFont typeface="Times New Roman"/>
              <a:buChar char="●"/>
            </a:pPr>
            <a:r>
              <a:rPr b="1" lang="en-US">
                <a:solidFill>
                  <a:schemeClr val="dk1"/>
                </a:solidFill>
                <a:latin typeface="Times New Roman"/>
                <a:ea typeface="Times New Roman"/>
                <a:cs typeface="Times New Roman"/>
                <a:sym typeface="Times New Roman"/>
              </a:rPr>
              <a:t>Specifically, regional disparities in wage growth</a:t>
            </a:r>
            <a:endParaRPr b="1" i="0" sz="1400" u="none" cap="none" strike="noStrike">
              <a:solidFill>
                <a:schemeClr val="dk1"/>
              </a:solidFill>
              <a:latin typeface="Times New Roman"/>
              <a:ea typeface="Times New Roman"/>
              <a:cs typeface="Times New Roman"/>
              <a:sym typeface="Times New Roman"/>
            </a:endParaRPr>
          </a:p>
          <a:p>
            <a:pPr indent="-317500" lvl="1" marL="914400" marR="0" rtl="0" algn="l">
              <a:lnSpc>
                <a:spcPct val="200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Each region has distinct</a:t>
            </a:r>
            <a:r>
              <a:rPr lang="en-US">
                <a:solidFill>
                  <a:schemeClr val="dk1"/>
                </a:solidFill>
                <a:latin typeface="Times New Roman"/>
                <a:ea typeface="Times New Roman"/>
                <a:cs typeface="Times New Roman"/>
                <a:sym typeface="Times New Roman"/>
              </a:rPr>
              <a:t> industries, immigration, tax levels, government programs</a:t>
            </a:r>
            <a:endParaRPr>
              <a:solidFill>
                <a:schemeClr val="dk1"/>
              </a:solidFill>
              <a:latin typeface="Times New Roman"/>
              <a:ea typeface="Times New Roman"/>
              <a:cs typeface="Times New Roman"/>
              <a:sym typeface="Times New Roman"/>
            </a:endParaRPr>
          </a:p>
          <a:p>
            <a:pPr indent="-317500" lvl="1" marL="914400" marR="0" rtl="0" algn="l">
              <a:lnSpc>
                <a:spcPct val="200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Tech-driven Silicon Valley starkly contrasts with the manufacturing of the Midwest</a:t>
            </a:r>
            <a:endParaRPr>
              <a:solidFill>
                <a:schemeClr val="dk1"/>
              </a:solidFill>
              <a:latin typeface="Times New Roman"/>
              <a:ea typeface="Times New Roman"/>
              <a:cs typeface="Times New Roman"/>
              <a:sym typeface="Times New Roman"/>
            </a:endParaRPr>
          </a:p>
          <a:p>
            <a:pPr indent="-298450" lvl="0" marL="457200" rtl="0" algn="l">
              <a:lnSpc>
                <a:spcPct val="200000"/>
              </a:lnSpc>
              <a:spcBef>
                <a:spcPts val="0"/>
              </a:spcBef>
              <a:spcAft>
                <a:spcPts val="0"/>
              </a:spcAft>
              <a:buClr>
                <a:schemeClr val="dk1"/>
              </a:buClr>
              <a:buSzPts val="1100"/>
              <a:buFont typeface="Times New Roman"/>
              <a:buChar char="●"/>
            </a:pPr>
            <a:r>
              <a:rPr b="1" lang="en-US">
                <a:solidFill>
                  <a:schemeClr val="dk1"/>
                </a:solidFill>
                <a:latin typeface="Times New Roman"/>
                <a:ea typeface="Times New Roman"/>
                <a:cs typeface="Times New Roman"/>
                <a:sym typeface="Times New Roman"/>
              </a:rPr>
              <a:t>How has recent inflation impacted real wage growth across the regions of the United States?</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33"/>
          <p:cNvSpPr txBox="1"/>
          <p:nvPr>
            <p:ph type="title"/>
          </p:nvPr>
        </p:nvSpPr>
        <p:spPr>
          <a:xfrm>
            <a:off x="457200" y="274320"/>
            <a:ext cx="82296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990000"/>
              </a:buClr>
              <a:buSzPts val="2100"/>
              <a:buFont typeface="Arial Black"/>
              <a:buNone/>
            </a:pPr>
            <a:r>
              <a:rPr lang="en-US" sz="2000"/>
              <a:t>Background</a:t>
            </a:r>
            <a:endParaRPr sz="2000"/>
          </a:p>
        </p:txBody>
      </p:sp>
      <p:sp>
        <p:nvSpPr>
          <p:cNvPr id="76" name="Google Shape;76;p33"/>
          <p:cNvSpPr txBox="1"/>
          <p:nvPr/>
        </p:nvSpPr>
        <p:spPr>
          <a:xfrm>
            <a:off x="457200" y="1555804"/>
            <a:ext cx="7166100" cy="2031900"/>
          </a:xfrm>
          <a:prstGeom prst="rect">
            <a:avLst/>
          </a:prstGeom>
          <a:noFill/>
          <a:ln>
            <a:noFill/>
          </a:ln>
        </p:spPr>
        <p:txBody>
          <a:bodyPr anchorCtr="0" anchor="t" bIns="45700" lIns="91425" spcFirstLastPara="1" rIns="91425" wrap="square" tIns="45700">
            <a:spAutoFit/>
          </a:bodyPr>
          <a:lstStyle/>
          <a:p>
            <a:pPr indent="-317500" lvl="0" marL="457200" rtl="0" algn="l">
              <a:lnSpc>
                <a:spcPct val="200000"/>
              </a:lnSpc>
              <a:spcBef>
                <a:spcPts val="0"/>
              </a:spcBef>
              <a:spcAft>
                <a:spcPts val="0"/>
              </a:spcAft>
              <a:buSzPts val="1400"/>
              <a:buFont typeface="Times New Roman"/>
              <a:buChar char="●"/>
            </a:pPr>
            <a:r>
              <a:rPr b="1" lang="en-US">
                <a:solidFill>
                  <a:schemeClr val="dk1"/>
                </a:solidFill>
                <a:latin typeface="Times New Roman"/>
                <a:ea typeface="Times New Roman"/>
                <a:cs typeface="Times New Roman"/>
                <a:sym typeface="Times New Roman"/>
              </a:rPr>
              <a:t>Understanding the relationship between inflation and wage growth is crucial</a:t>
            </a:r>
            <a:endParaRPr b="1">
              <a:latin typeface="Times New Roman"/>
              <a:ea typeface="Times New Roman"/>
              <a:cs typeface="Times New Roman"/>
              <a:sym typeface="Times New Roman"/>
            </a:endParaRPr>
          </a:p>
          <a:p>
            <a:pPr indent="-317500" lvl="0" marL="457200" rtl="0" algn="l">
              <a:lnSpc>
                <a:spcPct val="200000"/>
              </a:lnSpc>
              <a:spcBef>
                <a:spcPts val="0"/>
              </a:spcBef>
              <a:spcAft>
                <a:spcPts val="0"/>
              </a:spcAft>
              <a:buSzPts val="1400"/>
              <a:buFont typeface="Times New Roman"/>
              <a:buChar char="●"/>
            </a:pPr>
            <a:r>
              <a:rPr lang="en-US">
                <a:solidFill>
                  <a:schemeClr val="dk1"/>
                </a:solidFill>
                <a:latin typeface="Times New Roman"/>
                <a:ea typeface="Times New Roman"/>
                <a:cs typeface="Times New Roman"/>
                <a:sym typeface="Times New Roman"/>
              </a:rPr>
              <a:t>If nominal wages are not keeping pace with rising prices, then real wages decline, potentially leading to decreased consumer spending, increased debt levels, and broader economic challenges</a:t>
            </a:r>
            <a:endParaRPr>
              <a:latin typeface="Times New Roman"/>
              <a:ea typeface="Times New Roman"/>
              <a:cs typeface="Times New Roman"/>
              <a:sym typeface="Times New Roman"/>
            </a:endParaRPr>
          </a:p>
          <a:p>
            <a:pPr indent="-317500" lvl="0" marL="457200" rtl="0" algn="l">
              <a:lnSpc>
                <a:spcPct val="200000"/>
              </a:lnSpc>
              <a:spcBef>
                <a:spcPts val="0"/>
              </a:spcBef>
              <a:spcAft>
                <a:spcPts val="0"/>
              </a:spcAft>
              <a:buSzPts val="1400"/>
              <a:buFont typeface="Times New Roman"/>
              <a:buChar char="●"/>
            </a:pPr>
            <a:r>
              <a:rPr lang="en-US">
                <a:solidFill>
                  <a:schemeClr val="dk1"/>
                </a:solidFill>
                <a:latin typeface="Times New Roman"/>
                <a:ea typeface="Times New Roman"/>
                <a:cs typeface="Times New Roman"/>
                <a:sym typeface="Times New Roman"/>
              </a:rPr>
              <a:t>Our insights could potentially inform policymakers about regional disparities</a:t>
            </a:r>
            <a:endParaRPr>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34"/>
          <p:cNvSpPr txBox="1"/>
          <p:nvPr>
            <p:ph type="title"/>
          </p:nvPr>
        </p:nvSpPr>
        <p:spPr>
          <a:xfrm>
            <a:off x="457200" y="274320"/>
            <a:ext cx="82296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990000"/>
              </a:buClr>
              <a:buSzPts val="2100"/>
              <a:buFont typeface="Arial Black"/>
              <a:buNone/>
            </a:pPr>
            <a:r>
              <a:rPr lang="en-US" sz="2000"/>
              <a:t>Literature Review</a:t>
            </a:r>
            <a:endParaRPr sz="2000"/>
          </a:p>
        </p:txBody>
      </p:sp>
      <p:sp>
        <p:nvSpPr>
          <p:cNvPr id="82" name="Google Shape;82;p34"/>
          <p:cNvSpPr txBox="1"/>
          <p:nvPr/>
        </p:nvSpPr>
        <p:spPr>
          <a:xfrm>
            <a:off x="664398" y="1177645"/>
            <a:ext cx="7887900" cy="3755700"/>
          </a:xfrm>
          <a:prstGeom prst="rect">
            <a:avLst/>
          </a:prstGeom>
          <a:noFill/>
          <a:ln>
            <a:noFill/>
          </a:ln>
        </p:spPr>
        <p:txBody>
          <a:bodyPr anchorCtr="0" anchor="t" bIns="45700" lIns="91425" spcFirstLastPara="1" rIns="91425" wrap="square" tIns="45700">
            <a:spAutoFit/>
          </a:bodyPr>
          <a:lstStyle/>
          <a:p>
            <a:pPr indent="-88900" lvl="0" marL="0" marR="0" rtl="0" algn="l">
              <a:lnSpc>
                <a:spcPct val="200000"/>
              </a:lnSpc>
              <a:spcBef>
                <a:spcPts val="0"/>
              </a:spcBef>
              <a:spcAft>
                <a:spcPts val="0"/>
              </a:spcAft>
              <a:buClr>
                <a:srgbClr val="000000"/>
              </a:buClr>
              <a:buSzPts val="1400"/>
              <a:buFont typeface="Arial"/>
              <a:buChar char="•"/>
            </a:pPr>
            <a:r>
              <a:rPr b="1" i="0" lang="en-US" sz="1400" u="none" cap="none" strike="noStrike">
                <a:solidFill>
                  <a:srgbClr val="0D0D0D"/>
                </a:solidFill>
                <a:latin typeface="Times New Roman"/>
                <a:ea typeface="Times New Roman"/>
                <a:cs typeface="Times New Roman"/>
                <a:sym typeface="Times New Roman"/>
              </a:rPr>
              <a:t>Jaravel (2020): </a:t>
            </a:r>
            <a:r>
              <a:rPr b="0" i="0" lang="en-US" sz="1400" u="none" cap="none" strike="noStrike">
                <a:solidFill>
                  <a:srgbClr val="0D0D0D"/>
                </a:solidFill>
                <a:latin typeface="Times New Roman"/>
                <a:ea typeface="Times New Roman"/>
                <a:cs typeface="Times New Roman"/>
                <a:sym typeface="Times New Roman"/>
              </a:rPr>
              <a:t>Found that inflation disproportionately affects low-income households, which spend a larger portion of income on necessities, making inflation’s impact on wage growth uneven across income groups.</a:t>
            </a:r>
            <a:endParaRPr/>
          </a:p>
          <a:p>
            <a:pPr indent="-88900" lvl="0" marL="0" marR="0" rtl="0" algn="l">
              <a:lnSpc>
                <a:spcPct val="200000"/>
              </a:lnSpc>
              <a:spcBef>
                <a:spcPts val="0"/>
              </a:spcBef>
              <a:spcAft>
                <a:spcPts val="0"/>
              </a:spcAft>
              <a:buClr>
                <a:srgbClr val="000000"/>
              </a:buClr>
              <a:buSzPts val="1400"/>
              <a:buFont typeface="Arial"/>
              <a:buChar char="•"/>
            </a:pPr>
            <a:r>
              <a:rPr b="1" i="0" lang="en-US" sz="1400" u="none" cap="none" strike="noStrike">
                <a:solidFill>
                  <a:srgbClr val="0D0D0D"/>
                </a:solidFill>
                <a:latin typeface="Times New Roman"/>
                <a:ea typeface="Times New Roman"/>
                <a:cs typeface="Times New Roman"/>
                <a:sym typeface="Times New Roman"/>
              </a:rPr>
              <a:t>Adjemian et al. (2023): </a:t>
            </a:r>
            <a:r>
              <a:rPr b="0" i="0" lang="en-US" sz="1400" u="none" cap="none" strike="noStrike">
                <a:solidFill>
                  <a:srgbClr val="0D0D0D"/>
                </a:solidFill>
                <a:latin typeface="Times New Roman"/>
                <a:ea typeface="Times New Roman"/>
                <a:cs typeface="Times New Roman"/>
                <a:sym typeface="Times New Roman"/>
              </a:rPr>
              <a:t>Examined the factors behind recent inflation in the U.S., including supply chain disruptions and fiscal stimulus, highlighting the importance of these variables in understanding wage growth during inflationary periods.</a:t>
            </a:r>
            <a:endParaRPr/>
          </a:p>
          <a:p>
            <a:pPr indent="-88900" lvl="0" marL="0" marR="0" rtl="0" algn="l">
              <a:lnSpc>
                <a:spcPct val="200000"/>
              </a:lnSpc>
              <a:spcBef>
                <a:spcPts val="0"/>
              </a:spcBef>
              <a:spcAft>
                <a:spcPts val="0"/>
              </a:spcAft>
              <a:buClr>
                <a:srgbClr val="000000"/>
              </a:buClr>
              <a:buSzPts val="1400"/>
              <a:buFont typeface="Arial"/>
              <a:buChar char="•"/>
            </a:pPr>
            <a:r>
              <a:rPr b="1" i="0" lang="en-US" sz="1400" u="none" cap="none" strike="noStrike">
                <a:solidFill>
                  <a:srgbClr val="0D0D0D"/>
                </a:solidFill>
                <a:latin typeface="Times New Roman"/>
                <a:ea typeface="Times New Roman"/>
                <a:cs typeface="Times New Roman"/>
                <a:sym typeface="Times New Roman"/>
              </a:rPr>
              <a:t>Schmitt-Grohé &amp; Uribe (2022): </a:t>
            </a:r>
            <a:r>
              <a:rPr b="0" i="0" lang="en-US" sz="1400" u="none" cap="none" strike="noStrike">
                <a:solidFill>
                  <a:srgbClr val="0D0D0D"/>
                </a:solidFill>
                <a:latin typeface="Times New Roman"/>
                <a:ea typeface="Times New Roman"/>
                <a:cs typeface="Times New Roman"/>
                <a:sym typeface="Times New Roman"/>
              </a:rPr>
              <a:t>Investigated the impact of inflation on wage growth from 1900-2021, finding that inflation has a significant negative impact on middle-income wages, with regional differences in its effects.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g31abb364ef2_3_0"/>
          <p:cNvSpPr txBox="1"/>
          <p:nvPr>
            <p:ph type="title"/>
          </p:nvPr>
        </p:nvSpPr>
        <p:spPr>
          <a:xfrm>
            <a:off x="457200" y="274320"/>
            <a:ext cx="82296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US"/>
              <a:t>D</a:t>
            </a:r>
            <a:r>
              <a:rPr lang="en-US"/>
              <a:t>ata</a:t>
            </a:r>
            <a:endParaRPr/>
          </a:p>
        </p:txBody>
      </p:sp>
      <p:sp>
        <p:nvSpPr>
          <p:cNvPr id="88" name="Google Shape;88;g31abb364ef2_3_0"/>
          <p:cNvSpPr txBox="1"/>
          <p:nvPr>
            <p:ph idx="1" type="body"/>
          </p:nvPr>
        </p:nvSpPr>
        <p:spPr>
          <a:xfrm>
            <a:off x="251975" y="1185825"/>
            <a:ext cx="4320000" cy="3527700"/>
          </a:xfrm>
          <a:prstGeom prst="rect">
            <a:avLst/>
          </a:prstGeom>
        </p:spPr>
        <p:txBody>
          <a:bodyPr anchorCtr="0" anchor="t" bIns="34275" lIns="68575" spcFirstLastPara="1" rIns="68575" wrap="square" tIns="34275">
            <a:normAutofit fontScale="70000" lnSpcReduction="20000"/>
          </a:bodyPr>
          <a:lstStyle/>
          <a:p>
            <a:pPr indent="-281940" lvl="0" marL="685800" rtl="0" algn="l">
              <a:lnSpc>
                <a:spcPct val="115000"/>
              </a:lnSpc>
              <a:spcBef>
                <a:spcPts val="0"/>
              </a:spcBef>
              <a:spcAft>
                <a:spcPts val="0"/>
              </a:spcAft>
              <a:buClr>
                <a:srgbClr val="202122"/>
              </a:buClr>
              <a:buSzPct val="100000"/>
              <a:buChar char="●"/>
            </a:pPr>
            <a:r>
              <a:rPr lang="en-US" sz="1200">
                <a:solidFill>
                  <a:srgbClr val="202122"/>
                </a:solidFill>
                <a:highlight>
                  <a:srgbClr val="FFFFFF"/>
                </a:highlight>
              </a:rPr>
              <a:t>Region 1: Northeast</a:t>
            </a:r>
            <a:endParaRPr sz="1200">
              <a:solidFill>
                <a:schemeClr val="hlink"/>
              </a:solidFill>
              <a:highlight>
                <a:srgbClr val="FFFFFF"/>
              </a:highlight>
            </a:endParaRPr>
          </a:p>
          <a:p>
            <a:pPr indent="-281939" lvl="1" marL="1384300" rtl="0" algn="l">
              <a:lnSpc>
                <a:spcPct val="115000"/>
              </a:lnSpc>
              <a:spcBef>
                <a:spcPts val="0"/>
              </a:spcBef>
              <a:spcAft>
                <a:spcPts val="0"/>
              </a:spcAft>
              <a:buClr>
                <a:srgbClr val="202122"/>
              </a:buClr>
              <a:buSzPct val="100000"/>
              <a:buChar char="●"/>
            </a:pPr>
            <a:r>
              <a:rPr lang="en-US" sz="1200">
                <a:solidFill>
                  <a:srgbClr val="202122"/>
                </a:solidFill>
                <a:highlight>
                  <a:srgbClr val="FFFFFF"/>
                </a:highlight>
              </a:rPr>
              <a:t>Division 1: New England (Connecticut, Maine, Massachusetts, New Hampshire, Rhode Island, and Vermont)</a:t>
            </a:r>
            <a:endParaRPr sz="1200">
              <a:solidFill>
                <a:srgbClr val="202122"/>
              </a:solidFill>
              <a:highlight>
                <a:srgbClr val="FFFFFF"/>
              </a:highlight>
            </a:endParaRPr>
          </a:p>
          <a:p>
            <a:pPr indent="-281939" lvl="1" marL="1384300" rtl="0" algn="l">
              <a:lnSpc>
                <a:spcPct val="115000"/>
              </a:lnSpc>
              <a:spcBef>
                <a:spcPts val="0"/>
              </a:spcBef>
              <a:spcAft>
                <a:spcPts val="0"/>
              </a:spcAft>
              <a:buClr>
                <a:srgbClr val="202122"/>
              </a:buClr>
              <a:buSzPct val="100000"/>
              <a:buChar char="●"/>
            </a:pPr>
            <a:r>
              <a:rPr lang="en-US" sz="1200">
                <a:solidFill>
                  <a:srgbClr val="202122"/>
                </a:solidFill>
                <a:highlight>
                  <a:srgbClr val="FFFFFF"/>
                </a:highlight>
              </a:rPr>
              <a:t>Division 2: Middle Atlantic (New Jersey, New York, Pennsylvania, and Maryland)</a:t>
            </a:r>
            <a:endParaRPr sz="1200">
              <a:solidFill>
                <a:srgbClr val="202122"/>
              </a:solidFill>
              <a:highlight>
                <a:srgbClr val="FFFFFF"/>
              </a:highlight>
            </a:endParaRPr>
          </a:p>
          <a:p>
            <a:pPr indent="-281940" lvl="0" marL="685800" rtl="0" algn="l">
              <a:lnSpc>
                <a:spcPct val="115000"/>
              </a:lnSpc>
              <a:spcBef>
                <a:spcPts val="0"/>
              </a:spcBef>
              <a:spcAft>
                <a:spcPts val="0"/>
              </a:spcAft>
              <a:buClr>
                <a:srgbClr val="202122"/>
              </a:buClr>
              <a:buSzPct val="100000"/>
              <a:buChar char="●"/>
            </a:pPr>
            <a:r>
              <a:rPr lang="en-US" sz="1200">
                <a:solidFill>
                  <a:srgbClr val="202122"/>
                </a:solidFill>
                <a:highlight>
                  <a:srgbClr val="FFFFFF"/>
                </a:highlight>
              </a:rPr>
              <a:t>Region 2: Midwest </a:t>
            </a:r>
            <a:r>
              <a:rPr lang="en-US" sz="1200">
                <a:solidFill>
                  <a:srgbClr val="202122"/>
                </a:solidFill>
                <a:highlight>
                  <a:srgbClr val="FFFFFF"/>
                </a:highlight>
              </a:rPr>
              <a:t>(designated as the North Central Region before June 1984)</a:t>
            </a:r>
            <a:endParaRPr baseline="30000" sz="1600">
              <a:solidFill>
                <a:schemeClr val="hlink"/>
              </a:solidFill>
              <a:highlight>
                <a:srgbClr val="FFFFFF"/>
              </a:highlight>
            </a:endParaRPr>
          </a:p>
          <a:p>
            <a:pPr indent="-281939" lvl="1" marL="1384300" rtl="0" algn="l">
              <a:lnSpc>
                <a:spcPct val="115000"/>
              </a:lnSpc>
              <a:spcBef>
                <a:spcPts val="0"/>
              </a:spcBef>
              <a:spcAft>
                <a:spcPts val="0"/>
              </a:spcAft>
              <a:buClr>
                <a:srgbClr val="202122"/>
              </a:buClr>
              <a:buSzPct val="100000"/>
              <a:buChar char="●"/>
            </a:pPr>
            <a:r>
              <a:rPr lang="en-US" sz="1200">
                <a:solidFill>
                  <a:srgbClr val="202122"/>
                </a:solidFill>
                <a:highlight>
                  <a:srgbClr val="FFFFFF"/>
                </a:highlight>
              </a:rPr>
              <a:t>Division 3: East North Central (Illinois, Indiana, Michigan, Ohio, and Wisconsin)</a:t>
            </a:r>
            <a:endParaRPr sz="1200">
              <a:solidFill>
                <a:srgbClr val="202122"/>
              </a:solidFill>
              <a:highlight>
                <a:srgbClr val="FFFFFF"/>
              </a:highlight>
            </a:endParaRPr>
          </a:p>
          <a:p>
            <a:pPr indent="-281939" lvl="1" marL="1384300" rtl="0" algn="l">
              <a:lnSpc>
                <a:spcPct val="115000"/>
              </a:lnSpc>
              <a:spcBef>
                <a:spcPts val="0"/>
              </a:spcBef>
              <a:spcAft>
                <a:spcPts val="0"/>
              </a:spcAft>
              <a:buClr>
                <a:srgbClr val="202122"/>
              </a:buClr>
              <a:buSzPct val="100000"/>
              <a:buChar char="●"/>
            </a:pPr>
            <a:r>
              <a:rPr lang="en-US" sz="1200">
                <a:solidFill>
                  <a:srgbClr val="202122"/>
                </a:solidFill>
                <a:highlight>
                  <a:srgbClr val="FFFFFF"/>
                </a:highlight>
              </a:rPr>
              <a:t>Division 4: West North Central (Iowa, Kansas, Minnesota, Missouri, Nebraska, North Dakota, and South Dakota)</a:t>
            </a:r>
            <a:endParaRPr sz="1200">
              <a:solidFill>
                <a:srgbClr val="202122"/>
              </a:solidFill>
              <a:highlight>
                <a:srgbClr val="FFFFFF"/>
              </a:highlight>
            </a:endParaRPr>
          </a:p>
          <a:p>
            <a:pPr indent="-281940" lvl="0" marL="685800" rtl="0" algn="l">
              <a:lnSpc>
                <a:spcPct val="115000"/>
              </a:lnSpc>
              <a:spcBef>
                <a:spcPts val="0"/>
              </a:spcBef>
              <a:spcAft>
                <a:spcPts val="0"/>
              </a:spcAft>
              <a:buClr>
                <a:srgbClr val="202122"/>
              </a:buClr>
              <a:buSzPct val="100000"/>
              <a:buChar char="●"/>
            </a:pPr>
            <a:r>
              <a:rPr lang="en-US" sz="1200">
                <a:solidFill>
                  <a:srgbClr val="202122"/>
                </a:solidFill>
                <a:highlight>
                  <a:srgbClr val="FFFFFF"/>
                </a:highlight>
              </a:rPr>
              <a:t>Region 3: South</a:t>
            </a:r>
            <a:endParaRPr sz="1200">
              <a:solidFill>
                <a:schemeClr val="hlink"/>
              </a:solidFill>
              <a:highlight>
                <a:srgbClr val="FFFFFF"/>
              </a:highlight>
            </a:endParaRPr>
          </a:p>
          <a:p>
            <a:pPr indent="-281939" lvl="1" marL="1384300" rtl="0" algn="l">
              <a:lnSpc>
                <a:spcPct val="115000"/>
              </a:lnSpc>
              <a:spcBef>
                <a:spcPts val="0"/>
              </a:spcBef>
              <a:spcAft>
                <a:spcPts val="0"/>
              </a:spcAft>
              <a:buClr>
                <a:srgbClr val="202122"/>
              </a:buClr>
              <a:buSzPct val="100000"/>
              <a:buChar char="●"/>
            </a:pPr>
            <a:r>
              <a:rPr lang="en-US" sz="1200">
                <a:solidFill>
                  <a:srgbClr val="202122"/>
                </a:solidFill>
                <a:highlight>
                  <a:srgbClr val="FFFFFF"/>
                </a:highlight>
              </a:rPr>
              <a:t>Division 5: South Atlantic (Florida, Georgia, North Carolina, South Carolina, Virginia, Washington, D.C., Delaware, and West Virginia)</a:t>
            </a:r>
            <a:endParaRPr sz="1200">
              <a:solidFill>
                <a:srgbClr val="202122"/>
              </a:solidFill>
              <a:highlight>
                <a:srgbClr val="FFFFFF"/>
              </a:highlight>
            </a:endParaRPr>
          </a:p>
          <a:p>
            <a:pPr indent="-281939" lvl="1" marL="1384300" rtl="0" algn="l">
              <a:lnSpc>
                <a:spcPct val="115000"/>
              </a:lnSpc>
              <a:spcBef>
                <a:spcPts val="0"/>
              </a:spcBef>
              <a:spcAft>
                <a:spcPts val="0"/>
              </a:spcAft>
              <a:buClr>
                <a:srgbClr val="202122"/>
              </a:buClr>
              <a:buSzPct val="100000"/>
              <a:buChar char="●"/>
            </a:pPr>
            <a:r>
              <a:rPr lang="en-US" sz="1200">
                <a:solidFill>
                  <a:srgbClr val="202122"/>
                </a:solidFill>
                <a:highlight>
                  <a:srgbClr val="FFFFFF"/>
                </a:highlight>
              </a:rPr>
              <a:t>Division 6: East South </a:t>
            </a:r>
            <a:r>
              <a:rPr lang="en-US" sz="1200">
                <a:highlight>
                  <a:srgbClr val="FFFFFF"/>
                </a:highlight>
              </a:rPr>
              <a:t>Central (Alabama, Kentucky, Mississippi, and Tennessee</a:t>
            </a:r>
            <a:r>
              <a:rPr lang="en-US" sz="1200">
                <a:solidFill>
                  <a:srgbClr val="202122"/>
                </a:solidFill>
                <a:highlight>
                  <a:srgbClr val="FFFFFF"/>
                </a:highlight>
              </a:rPr>
              <a:t>)</a:t>
            </a:r>
            <a:endParaRPr sz="1200">
              <a:solidFill>
                <a:srgbClr val="202122"/>
              </a:solidFill>
              <a:highlight>
                <a:srgbClr val="FFFFFF"/>
              </a:highlight>
            </a:endParaRPr>
          </a:p>
          <a:p>
            <a:pPr indent="-281939" lvl="1" marL="1384300" rtl="0" algn="l">
              <a:lnSpc>
                <a:spcPct val="115000"/>
              </a:lnSpc>
              <a:spcBef>
                <a:spcPts val="0"/>
              </a:spcBef>
              <a:spcAft>
                <a:spcPts val="0"/>
              </a:spcAft>
              <a:buClr>
                <a:srgbClr val="202122"/>
              </a:buClr>
              <a:buSzPct val="100000"/>
              <a:buChar char="●"/>
            </a:pPr>
            <a:r>
              <a:rPr lang="en-US" sz="1200">
                <a:solidFill>
                  <a:srgbClr val="202122"/>
                </a:solidFill>
                <a:highlight>
                  <a:srgbClr val="FFFFFF"/>
                </a:highlight>
              </a:rPr>
              <a:t>Division 7: West South Central (Arkansas, Louisi</a:t>
            </a:r>
            <a:r>
              <a:rPr lang="en-US" sz="1200">
                <a:highlight>
                  <a:srgbClr val="FFFFFF"/>
                </a:highlight>
              </a:rPr>
              <a:t>ana, Oklahoma, and Texas)</a:t>
            </a:r>
            <a:endParaRPr sz="1200">
              <a:highlight>
                <a:srgbClr val="FFFFFF"/>
              </a:highlight>
            </a:endParaRPr>
          </a:p>
          <a:p>
            <a:pPr indent="-281940" lvl="0" marL="685800" rtl="0" algn="l">
              <a:lnSpc>
                <a:spcPct val="115000"/>
              </a:lnSpc>
              <a:spcBef>
                <a:spcPts val="0"/>
              </a:spcBef>
              <a:spcAft>
                <a:spcPts val="0"/>
              </a:spcAft>
              <a:buClr>
                <a:srgbClr val="202122"/>
              </a:buClr>
              <a:buSzPct val="100000"/>
              <a:buChar char="●"/>
            </a:pPr>
            <a:r>
              <a:rPr lang="en-US" sz="1200">
                <a:solidFill>
                  <a:srgbClr val="202122"/>
                </a:solidFill>
                <a:highlight>
                  <a:srgbClr val="FFFFFF"/>
                </a:highlight>
              </a:rPr>
              <a:t>Region 4: West</a:t>
            </a:r>
            <a:endParaRPr sz="1200">
              <a:solidFill>
                <a:schemeClr val="hlink"/>
              </a:solidFill>
              <a:highlight>
                <a:srgbClr val="FFFFFF"/>
              </a:highlight>
            </a:endParaRPr>
          </a:p>
          <a:p>
            <a:pPr indent="-281939" lvl="1" marL="1384300" rtl="0" algn="l">
              <a:lnSpc>
                <a:spcPct val="115000"/>
              </a:lnSpc>
              <a:spcBef>
                <a:spcPts val="0"/>
              </a:spcBef>
              <a:spcAft>
                <a:spcPts val="0"/>
              </a:spcAft>
              <a:buClr>
                <a:srgbClr val="202122"/>
              </a:buClr>
              <a:buSzPct val="100000"/>
              <a:buChar char="●"/>
            </a:pPr>
            <a:r>
              <a:rPr lang="en-US" sz="1200">
                <a:solidFill>
                  <a:srgbClr val="202122"/>
                </a:solidFill>
                <a:highlight>
                  <a:srgbClr val="FFFFFF"/>
                </a:highlight>
              </a:rPr>
              <a:t>Division 8: Mountain (Arizona, Colorado, Idaho, Montana, Nevada, New Mexico, Utah, and Wyoming)</a:t>
            </a:r>
            <a:endParaRPr sz="1200">
              <a:solidFill>
                <a:srgbClr val="202122"/>
              </a:solidFill>
              <a:highlight>
                <a:srgbClr val="FFFFFF"/>
              </a:highlight>
            </a:endParaRPr>
          </a:p>
          <a:p>
            <a:pPr indent="-281939" lvl="1" marL="1384300" rtl="0" algn="l">
              <a:lnSpc>
                <a:spcPct val="115000"/>
              </a:lnSpc>
              <a:spcBef>
                <a:spcPts val="0"/>
              </a:spcBef>
              <a:spcAft>
                <a:spcPts val="0"/>
              </a:spcAft>
              <a:buClr>
                <a:srgbClr val="202122"/>
              </a:buClr>
              <a:buSzPct val="100000"/>
              <a:buChar char="●"/>
            </a:pPr>
            <a:r>
              <a:rPr lang="en-US" sz="1200">
                <a:solidFill>
                  <a:srgbClr val="202122"/>
                </a:solidFill>
                <a:highlight>
                  <a:srgbClr val="FFFFFF"/>
                </a:highlight>
              </a:rPr>
              <a:t>Division 9: Pacific (Alaska, California, Hawaii, Oregon, and Washington)</a:t>
            </a:r>
            <a:endParaRPr sz="1200">
              <a:solidFill>
                <a:srgbClr val="202122"/>
              </a:solidFill>
              <a:highlight>
                <a:srgbClr val="FFFFFF"/>
              </a:highlight>
            </a:endParaRPr>
          </a:p>
          <a:p>
            <a:pPr indent="0" lvl="0" marL="0" rtl="0" algn="l">
              <a:spcBef>
                <a:spcPts val="800"/>
              </a:spcBef>
              <a:spcAft>
                <a:spcPts val="0"/>
              </a:spcAft>
              <a:buNone/>
            </a:pPr>
            <a:r>
              <a:t/>
            </a:r>
            <a:endParaRPr/>
          </a:p>
        </p:txBody>
      </p:sp>
      <p:pic>
        <p:nvPicPr>
          <p:cNvPr id="89" name="Google Shape;89;g31abb364ef2_3_0"/>
          <p:cNvPicPr preferRelativeResize="0"/>
          <p:nvPr/>
        </p:nvPicPr>
        <p:blipFill>
          <a:blip r:embed="rId3">
            <a:alphaModFix/>
          </a:blip>
          <a:stretch>
            <a:fillRect/>
          </a:stretch>
        </p:blipFill>
        <p:spPr>
          <a:xfrm>
            <a:off x="4779525" y="1268525"/>
            <a:ext cx="3753750" cy="30244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txBox="1"/>
          <p:nvPr>
            <p:ph type="title"/>
          </p:nvPr>
        </p:nvSpPr>
        <p:spPr>
          <a:xfrm>
            <a:off x="457200" y="274320"/>
            <a:ext cx="82296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990000"/>
              </a:buClr>
              <a:buSzPts val="2100"/>
              <a:buFont typeface="Arial Black"/>
              <a:buNone/>
            </a:pPr>
            <a:r>
              <a:rPr lang="en-US"/>
              <a:t>Data</a:t>
            </a:r>
            <a:endParaRPr/>
          </a:p>
        </p:txBody>
      </p:sp>
      <p:sp>
        <p:nvSpPr>
          <p:cNvPr id="95" name="Google Shape;95;p2"/>
          <p:cNvSpPr txBox="1"/>
          <p:nvPr>
            <p:ph idx="1" type="body"/>
          </p:nvPr>
        </p:nvSpPr>
        <p:spPr>
          <a:xfrm>
            <a:off x="457200" y="1357884"/>
            <a:ext cx="8229600" cy="3271200"/>
          </a:xfrm>
          <a:prstGeom prst="rect">
            <a:avLst/>
          </a:prstGeom>
          <a:noFill/>
          <a:ln>
            <a:noFill/>
          </a:ln>
        </p:spPr>
        <p:txBody>
          <a:bodyPr anchorCtr="0" anchor="t" bIns="34275" lIns="68575" spcFirstLastPara="1" rIns="68575" wrap="square" tIns="34275">
            <a:noAutofit/>
          </a:bodyPr>
          <a:lstStyle/>
          <a:p>
            <a:pPr indent="-285750" lvl="1" marL="742950" rtl="0" algn="l">
              <a:lnSpc>
                <a:spcPct val="200000"/>
              </a:lnSpc>
              <a:spcBef>
                <a:spcPts val="400"/>
              </a:spcBef>
              <a:spcAft>
                <a:spcPts val="0"/>
              </a:spcAft>
              <a:buSzPts val="1400"/>
              <a:buChar char="•"/>
            </a:pPr>
            <a:r>
              <a:rPr b="1" lang="en-US" sz="1400">
                <a:latin typeface="Times New Roman"/>
                <a:ea typeface="Times New Roman"/>
                <a:cs typeface="Times New Roman"/>
                <a:sym typeface="Times New Roman"/>
              </a:rPr>
              <a:t>Real W</a:t>
            </a:r>
            <a:r>
              <a:rPr b="1" i="0" lang="en-US" sz="1400" u="none" strike="noStrike">
                <a:solidFill>
                  <a:schemeClr val="dk1"/>
                </a:solidFill>
                <a:latin typeface="Times New Roman"/>
                <a:ea typeface="Times New Roman"/>
                <a:cs typeface="Times New Roman"/>
                <a:sym typeface="Times New Roman"/>
              </a:rPr>
              <a:t>age Growth</a:t>
            </a:r>
            <a:r>
              <a:rPr i="0" lang="en-US" sz="1400" u="none" strike="noStrike">
                <a:solidFill>
                  <a:schemeClr val="dk1"/>
                </a:solidFill>
                <a:latin typeface="Times New Roman"/>
                <a:ea typeface="Times New Roman"/>
                <a:cs typeface="Times New Roman"/>
                <a:sym typeface="Times New Roman"/>
              </a:rPr>
              <a:t>: Monthly </a:t>
            </a:r>
            <a:r>
              <a:rPr lang="en-US" sz="1400">
                <a:latin typeface="Times New Roman"/>
                <a:ea typeface="Times New Roman"/>
                <a:cs typeface="Times New Roman"/>
                <a:sym typeface="Times New Roman"/>
              </a:rPr>
              <a:t>real</a:t>
            </a:r>
            <a:r>
              <a:rPr i="0" lang="en-US" sz="1400" u="none" strike="noStrike">
                <a:solidFill>
                  <a:schemeClr val="dk1"/>
                </a:solidFill>
                <a:latin typeface="Times New Roman"/>
                <a:ea typeface="Times New Roman"/>
                <a:cs typeface="Times New Roman"/>
                <a:sym typeface="Times New Roman"/>
              </a:rPr>
              <a:t> regional wage growth</a:t>
            </a:r>
            <a:r>
              <a:rPr lang="en-US" sz="1400">
                <a:latin typeface="Times New Roman"/>
                <a:ea typeface="Times New Roman"/>
                <a:cs typeface="Times New Roman"/>
                <a:sym typeface="Times New Roman"/>
              </a:rPr>
              <a:t> (</a:t>
            </a:r>
            <a:r>
              <a:rPr lang="en-US" sz="1400">
                <a:solidFill>
                  <a:srgbClr val="232323"/>
                </a:solidFill>
                <a:highlight>
                  <a:schemeClr val="lt1"/>
                </a:highlight>
                <a:latin typeface="Times New Roman"/>
                <a:ea typeface="Times New Roman"/>
                <a:cs typeface="Times New Roman"/>
                <a:sym typeface="Times New Roman"/>
              </a:rPr>
              <a:t>Federal Reserve Bank of Atlanta)</a:t>
            </a:r>
            <a:endParaRPr sz="1400">
              <a:solidFill>
                <a:srgbClr val="232323"/>
              </a:solidFill>
              <a:highlight>
                <a:schemeClr val="lt1"/>
              </a:highlight>
              <a:latin typeface="Times New Roman"/>
              <a:ea typeface="Times New Roman"/>
              <a:cs typeface="Times New Roman"/>
              <a:sym typeface="Times New Roman"/>
            </a:endParaRPr>
          </a:p>
          <a:p>
            <a:pPr indent="-317500" lvl="2" marL="1371600" rtl="0" algn="l">
              <a:lnSpc>
                <a:spcPct val="200000"/>
              </a:lnSpc>
              <a:spcBef>
                <a:spcPts val="0"/>
              </a:spcBef>
              <a:spcAft>
                <a:spcPts val="0"/>
              </a:spcAft>
              <a:buClr>
                <a:srgbClr val="232323"/>
              </a:buClr>
              <a:buSzPts val="1400"/>
              <a:buFont typeface="Times New Roman"/>
              <a:buChar char="•"/>
            </a:pPr>
            <a:r>
              <a:rPr lang="en-US" sz="1400">
                <a:latin typeface="Times New Roman"/>
                <a:ea typeface="Times New Roman"/>
                <a:cs typeface="Times New Roman"/>
                <a:sym typeface="Times New Roman"/>
              </a:rPr>
              <a:t>Nominal wage percent change: 100*ln(Wage</a:t>
            </a:r>
            <a:r>
              <a:rPr baseline="-25000" lang="en-US" sz="1400">
                <a:latin typeface="Times New Roman"/>
                <a:ea typeface="Times New Roman"/>
                <a:cs typeface="Times New Roman"/>
                <a:sym typeface="Times New Roman"/>
              </a:rPr>
              <a:t>t</a:t>
            </a:r>
            <a:r>
              <a:rPr lang="en-US" sz="1400">
                <a:latin typeface="Times New Roman"/>
                <a:ea typeface="Times New Roman"/>
                <a:cs typeface="Times New Roman"/>
                <a:sym typeface="Times New Roman"/>
              </a:rPr>
              <a:t> / Wage</a:t>
            </a:r>
            <a:r>
              <a:rPr baseline="-25000" lang="en-US" sz="1400">
                <a:latin typeface="Times New Roman"/>
                <a:ea typeface="Times New Roman"/>
                <a:cs typeface="Times New Roman"/>
                <a:sym typeface="Times New Roman"/>
              </a:rPr>
              <a:t>t-12</a:t>
            </a:r>
            <a:r>
              <a:rPr lang="en-US" sz="1400">
                <a:latin typeface="Times New Roman"/>
                <a:ea typeface="Times New Roman"/>
                <a:cs typeface="Times New Roman"/>
                <a:sym typeface="Times New Roman"/>
              </a:rPr>
              <a:t>)</a:t>
            </a:r>
            <a:endParaRPr sz="1400">
              <a:latin typeface="Times New Roman"/>
              <a:ea typeface="Times New Roman"/>
              <a:cs typeface="Times New Roman"/>
              <a:sym typeface="Times New Roman"/>
            </a:endParaRPr>
          </a:p>
          <a:p>
            <a:pPr indent="-317500" lvl="2" marL="1371600" rtl="0" algn="l">
              <a:lnSpc>
                <a:spcPct val="200000"/>
              </a:lnSpc>
              <a:spcBef>
                <a:spcPts val="0"/>
              </a:spcBef>
              <a:spcAft>
                <a:spcPts val="0"/>
              </a:spcAft>
              <a:buSzPts val="1400"/>
              <a:buFont typeface="Times New Roman"/>
              <a:buChar char="•"/>
            </a:pPr>
            <a:r>
              <a:rPr lang="en-US" sz="1400">
                <a:latin typeface="Times New Roman"/>
                <a:ea typeface="Times New Roman"/>
                <a:cs typeface="Times New Roman"/>
                <a:sym typeface="Times New Roman"/>
              </a:rPr>
              <a:t>Real wage: nominal wage - inflation</a:t>
            </a:r>
            <a:endParaRPr sz="1400">
              <a:latin typeface="Times New Roman"/>
              <a:ea typeface="Times New Roman"/>
              <a:cs typeface="Times New Roman"/>
              <a:sym typeface="Times New Roman"/>
            </a:endParaRPr>
          </a:p>
          <a:p>
            <a:pPr indent="-285750" lvl="1" marL="742950" rtl="0" algn="l">
              <a:lnSpc>
                <a:spcPct val="200000"/>
              </a:lnSpc>
              <a:spcBef>
                <a:spcPts val="400"/>
              </a:spcBef>
              <a:spcAft>
                <a:spcPts val="0"/>
              </a:spcAft>
              <a:buSzPts val="1400"/>
              <a:buChar char="•"/>
            </a:pPr>
            <a:r>
              <a:rPr b="1" i="0" lang="en-US" sz="1400" u="none" strike="noStrike">
                <a:solidFill>
                  <a:schemeClr val="dk1"/>
                </a:solidFill>
                <a:latin typeface="Times New Roman"/>
                <a:ea typeface="Times New Roman"/>
                <a:cs typeface="Times New Roman"/>
                <a:sym typeface="Times New Roman"/>
              </a:rPr>
              <a:t>Unemployment Rate</a:t>
            </a:r>
            <a:r>
              <a:rPr i="0" lang="en-US" sz="1400" u="none" strike="noStrike">
                <a:solidFill>
                  <a:schemeClr val="dk1"/>
                </a:solidFill>
                <a:latin typeface="Times New Roman"/>
                <a:ea typeface="Times New Roman"/>
                <a:cs typeface="Times New Roman"/>
                <a:sym typeface="Times New Roman"/>
              </a:rPr>
              <a:t>: Monthly unemployment data by region</a:t>
            </a:r>
            <a:r>
              <a:rPr lang="en-US" sz="1400">
                <a:latin typeface="Times New Roman"/>
                <a:ea typeface="Times New Roman"/>
                <a:cs typeface="Times New Roman"/>
                <a:sym typeface="Times New Roman"/>
              </a:rPr>
              <a:t> </a:t>
            </a:r>
            <a:r>
              <a:rPr lang="en-US" sz="1400">
                <a:latin typeface="Times New Roman"/>
                <a:ea typeface="Times New Roman"/>
                <a:cs typeface="Times New Roman"/>
                <a:sym typeface="Times New Roman"/>
              </a:rPr>
              <a:t>(U.S. Bureau of Labor Statistics)</a:t>
            </a:r>
            <a:endParaRPr sz="1400">
              <a:latin typeface="Times New Roman"/>
              <a:ea typeface="Times New Roman"/>
              <a:cs typeface="Times New Roman"/>
              <a:sym typeface="Times New Roman"/>
            </a:endParaRPr>
          </a:p>
          <a:p>
            <a:pPr indent="-285750" lvl="1" marL="742950" rtl="0" algn="l">
              <a:lnSpc>
                <a:spcPct val="200000"/>
              </a:lnSpc>
              <a:spcBef>
                <a:spcPts val="400"/>
              </a:spcBef>
              <a:spcAft>
                <a:spcPts val="0"/>
              </a:spcAft>
              <a:buSzPts val="1400"/>
              <a:buChar char="•"/>
            </a:pPr>
            <a:r>
              <a:rPr b="1" i="0" lang="en-US" sz="1400" u="none" strike="noStrike">
                <a:solidFill>
                  <a:schemeClr val="dk1"/>
                </a:solidFill>
                <a:latin typeface="Times New Roman"/>
                <a:ea typeface="Times New Roman"/>
                <a:cs typeface="Times New Roman"/>
                <a:sym typeface="Times New Roman"/>
              </a:rPr>
              <a:t>GDP Data</a:t>
            </a:r>
            <a:r>
              <a:rPr i="0" lang="en-US" sz="1400" u="none" strike="noStrike">
                <a:solidFill>
                  <a:schemeClr val="dk1"/>
                </a:solidFill>
                <a:latin typeface="Times New Roman"/>
                <a:ea typeface="Times New Roman"/>
                <a:cs typeface="Times New Roman"/>
                <a:sym typeface="Times New Roman"/>
              </a:rPr>
              <a:t>: Monthly U.S. GDP data</a:t>
            </a:r>
            <a:r>
              <a:rPr lang="en-US" sz="1400">
                <a:latin typeface="Times New Roman"/>
                <a:ea typeface="Times New Roman"/>
                <a:cs typeface="Times New Roman"/>
                <a:sym typeface="Times New Roman"/>
              </a:rPr>
              <a:t> (S&amp;P Global)</a:t>
            </a:r>
            <a:endParaRPr sz="1400">
              <a:latin typeface="Times New Roman"/>
              <a:ea typeface="Times New Roman"/>
              <a:cs typeface="Times New Roman"/>
              <a:sym typeface="Times New Roman"/>
            </a:endParaRPr>
          </a:p>
          <a:p>
            <a:pPr indent="-285750" lvl="1" marL="742950" rtl="0" algn="l">
              <a:lnSpc>
                <a:spcPct val="200000"/>
              </a:lnSpc>
              <a:spcBef>
                <a:spcPts val="400"/>
              </a:spcBef>
              <a:spcAft>
                <a:spcPts val="0"/>
              </a:spcAft>
              <a:buSzPts val="1400"/>
              <a:buChar char="•"/>
            </a:pPr>
            <a:r>
              <a:rPr b="1" i="0" lang="en-US" sz="1400" u="none" strike="noStrike">
                <a:solidFill>
                  <a:schemeClr val="dk1"/>
                </a:solidFill>
                <a:latin typeface="Times New Roman"/>
                <a:ea typeface="Times New Roman"/>
                <a:cs typeface="Times New Roman"/>
                <a:sym typeface="Times New Roman"/>
              </a:rPr>
              <a:t>Consumer Price Index (CPI)</a:t>
            </a:r>
            <a:r>
              <a:rPr i="0" lang="en-US" sz="1400" u="none" strike="noStrike">
                <a:solidFill>
                  <a:schemeClr val="dk1"/>
                </a:solidFill>
                <a:latin typeface="Times New Roman"/>
                <a:ea typeface="Times New Roman"/>
                <a:cs typeface="Times New Roman"/>
                <a:sym typeface="Times New Roman"/>
              </a:rPr>
              <a:t>: Regional inflation data</a:t>
            </a:r>
            <a:r>
              <a:rPr b="1" lang="en-US" sz="1400">
                <a:latin typeface="Times New Roman"/>
                <a:ea typeface="Times New Roman"/>
                <a:cs typeface="Times New Roman"/>
                <a:sym typeface="Times New Roman"/>
              </a:rPr>
              <a:t> </a:t>
            </a:r>
            <a:r>
              <a:rPr lang="en-US" sz="1400">
                <a:latin typeface="Times New Roman"/>
                <a:ea typeface="Times New Roman"/>
                <a:cs typeface="Times New Roman"/>
                <a:sym typeface="Times New Roman"/>
              </a:rPr>
              <a:t>(U.S. Bureau of Labor Statistics)</a:t>
            </a:r>
            <a:endParaRPr sz="1400">
              <a:latin typeface="Times New Roman"/>
              <a:ea typeface="Times New Roman"/>
              <a:cs typeface="Times New Roman"/>
              <a:sym typeface="Times New Roman"/>
            </a:endParaRPr>
          </a:p>
          <a:p>
            <a:pPr indent="-171450" lvl="0" marL="514350" rtl="0" algn="l">
              <a:lnSpc>
                <a:spcPct val="90000"/>
              </a:lnSpc>
              <a:spcBef>
                <a:spcPts val="800"/>
              </a:spcBef>
              <a:spcAft>
                <a:spcPts val="0"/>
              </a:spcAft>
              <a:buSzPts val="1800"/>
              <a:buFont typeface="Arial"/>
              <a:buNone/>
            </a:pPr>
            <a:r>
              <a:t/>
            </a:r>
            <a:endParaRPr sz="140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5"/>
          <p:cNvSpPr txBox="1"/>
          <p:nvPr>
            <p:ph type="title"/>
          </p:nvPr>
        </p:nvSpPr>
        <p:spPr>
          <a:xfrm>
            <a:off x="457200" y="274320"/>
            <a:ext cx="82296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990000"/>
              </a:buClr>
              <a:buSzPts val="2100"/>
              <a:buFont typeface="Arial Black"/>
              <a:buNone/>
            </a:pPr>
            <a:r>
              <a:rPr lang="en-US" sz="2000"/>
              <a:t>Exploratory Data Analysis (EDA)</a:t>
            </a:r>
            <a:endParaRPr sz="2000"/>
          </a:p>
        </p:txBody>
      </p:sp>
      <p:pic>
        <p:nvPicPr>
          <p:cNvPr descr="A graph of a graph showing the growth of a stock market&#10;&#10;Description automatically generated with medium confidence" id="101" name="Google Shape;101;p35"/>
          <p:cNvPicPr preferRelativeResize="0"/>
          <p:nvPr/>
        </p:nvPicPr>
        <p:blipFill rotWithShape="1">
          <a:blip r:embed="rId3">
            <a:alphaModFix/>
          </a:blip>
          <a:srcRect b="0" l="0" r="0" t="0"/>
          <a:stretch/>
        </p:blipFill>
        <p:spPr>
          <a:xfrm>
            <a:off x="1079500" y="1679039"/>
            <a:ext cx="6985000" cy="2540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5"/>
          <p:cNvSpPr txBox="1"/>
          <p:nvPr>
            <p:ph type="title"/>
          </p:nvPr>
        </p:nvSpPr>
        <p:spPr>
          <a:xfrm>
            <a:off x="457200" y="274320"/>
            <a:ext cx="82296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990000"/>
              </a:buClr>
              <a:buSzPts val="2100"/>
              <a:buFont typeface="Arial Black"/>
              <a:buNone/>
            </a:pPr>
            <a:r>
              <a:rPr lang="en-US" sz="2000"/>
              <a:t>Exploratory Data Analysis (EDA)</a:t>
            </a:r>
            <a:endParaRPr sz="2000"/>
          </a:p>
        </p:txBody>
      </p:sp>
      <p:pic>
        <p:nvPicPr>
          <p:cNvPr descr="A graph showing a number of red dots&#10;&#10;Description automatically generated" id="107" name="Google Shape;107;p5"/>
          <p:cNvPicPr preferRelativeResize="0"/>
          <p:nvPr/>
        </p:nvPicPr>
        <p:blipFill rotWithShape="1">
          <a:blip r:embed="rId3">
            <a:alphaModFix/>
          </a:blip>
          <a:srcRect b="0" l="0" r="0" t="0"/>
          <a:stretch/>
        </p:blipFill>
        <p:spPr>
          <a:xfrm>
            <a:off x="1397000" y="1576864"/>
            <a:ext cx="6350000" cy="3175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36"/>
          <p:cNvSpPr txBox="1"/>
          <p:nvPr>
            <p:ph type="title"/>
          </p:nvPr>
        </p:nvSpPr>
        <p:spPr>
          <a:xfrm>
            <a:off x="457200" y="274320"/>
            <a:ext cx="82296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990000"/>
              </a:buClr>
              <a:buSzPts val="2100"/>
              <a:buFont typeface="Arial Black"/>
              <a:buNone/>
            </a:pPr>
            <a:r>
              <a:rPr lang="en-US" sz="2000"/>
              <a:t>Exploratory Data Analysis (EDA)</a:t>
            </a:r>
            <a:endParaRPr sz="2000"/>
          </a:p>
        </p:txBody>
      </p:sp>
      <p:pic>
        <p:nvPicPr>
          <p:cNvPr id="113" name="Google Shape;113;p36"/>
          <p:cNvPicPr preferRelativeResize="0"/>
          <p:nvPr/>
        </p:nvPicPr>
        <p:blipFill rotWithShape="1">
          <a:blip r:embed="rId3">
            <a:alphaModFix/>
          </a:blip>
          <a:srcRect b="0" l="0" r="0" t="0"/>
          <a:stretch/>
        </p:blipFill>
        <p:spPr>
          <a:xfrm>
            <a:off x="1397000" y="1646754"/>
            <a:ext cx="6350000" cy="288636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37"/>
          <p:cNvSpPr txBox="1"/>
          <p:nvPr>
            <p:ph type="title"/>
          </p:nvPr>
        </p:nvSpPr>
        <p:spPr>
          <a:xfrm>
            <a:off x="457200" y="274320"/>
            <a:ext cx="82296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990000"/>
              </a:buClr>
              <a:buSzPts val="2100"/>
              <a:buFont typeface="Arial Black"/>
              <a:buNone/>
            </a:pPr>
            <a:r>
              <a:rPr lang="en-US" sz="2000"/>
              <a:t>Exploratory Data Analysis (EDA)</a:t>
            </a:r>
            <a:endParaRPr sz="2000"/>
          </a:p>
        </p:txBody>
      </p:sp>
      <p:pic>
        <p:nvPicPr>
          <p:cNvPr descr="A graph showing the growth of the gdp&#10;&#10;Description automatically generated" id="119" name="Google Shape;119;p37"/>
          <p:cNvPicPr preferRelativeResize="0"/>
          <p:nvPr/>
        </p:nvPicPr>
        <p:blipFill rotWithShape="1">
          <a:blip r:embed="rId3">
            <a:alphaModFix/>
          </a:blip>
          <a:srcRect b="0" l="0" r="0" t="0"/>
          <a:stretch/>
        </p:blipFill>
        <p:spPr>
          <a:xfrm>
            <a:off x="1079500" y="1268520"/>
            <a:ext cx="6985000" cy="3175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38"/>
          <p:cNvSpPr txBox="1"/>
          <p:nvPr>
            <p:ph type="title"/>
          </p:nvPr>
        </p:nvSpPr>
        <p:spPr>
          <a:xfrm>
            <a:off x="457200" y="274320"/>
            <a:ext cx="82296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990000"/>
              </a:buClr>
              <a:buSzPts val="2100"/>
              <a:buFont typeface="Arial Black"/>
              <a:buNone/>
            </a:pPr>
            <a:r>
              <a:rPr lang="en-US" sz="2000"/>
              <a:t>Exploratory Data Analysis (EDA)</a:t>
            </a:r>
            <a:endParaRPr sz="2000"/>
          </a:p>
        </p:txBody>
      </p:sp>
      <p:pic>
        <p:nvPicPr>
          <p:cNvPr descr="A graph of different colored rectangular shapes&#10;&#10;Description automatically generated" id="125" name="Google Shape;125;p38"/>
          <p:cNvPicPr preferRelativeResize="0"/>
          <p:nvPr/>
        </p:nvPicPr>
        <p:blipFill rotWithShape="1">
          <a:blip r:embed="rId3">
            <a:alphaModFix/>
          </a:blip>
          <a:srcRect b="0" l="0" r="0" t="0"/>
          <a:stretch/>
        </p:blipFill>
        <p:spPr>
          <a:xfrm>
            <a:off x="1745876" y="1576864"/>
            <a:ext cx="5652247" cy="282612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6"/>
          <p:cNvSpPr txBox="1"/>
          <p:nvPr>
            <p:ph type="title"/>
          </p:nvPr>
        </p:nvSpPr>
        <p:spPr>
          <a:xfrm>
            <a:off x="457200" y="274320"/>
            <a:ext cx="82296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990000"/>
              </a:buClr>
              <a:buSzPts val="2100"/>
              <a:buFont typeface="Arial Black"/>
              <a:buNone/>
            </a:pPr>
            <a:r>
              <a:rPr lang="en-US" sz="2000"/>
              <a:t>Key Findings from EDA</a:t>
            </a:r>
            <a:endParaRPr/>
          </a:p>
        </p:txBody>
      </p:sp>
      <p:sp>
        <p:nvSpPr>
          <p:cNvPr id="131" name="Google Shape;131;p6"/>
          <p:cNvSpPr txBox="1"/>
          <p:nvPr>
            <p:ph idx="1" type="body"/>
          </p:nvPr>
        </p:nvSpPr>
        <p:spPr>
          <a:xfrm>
            <a:off x="457200" y="1357884"/>
            <a:ext cx="8229600" cy="3271200"/>
          </a:xfrm>
          <a:prstGeom prst="rect">
            <a:avLst/>
          </a:prstGeom>
          <a:noFill/>
          <a:ln>
            <a:noFill/>
          </a:ln>
        </p:spPr>
        <p:txBody>
          <a:bodyPr anchorCtr="0" anchor="t" bIns="34275" lIns="68575" spcFirstLastPara="1" rIns="68575" wrap="square" tIns="34275">
            <a:noAutofit/>
          </a:bodyPr>
          <a:lstStyle/>
          <a:p>
            <a:pPr indent="-285750" lvl="0" marL="514350" rtl="0" algn="l">
              <a:lnSpc>
                <a:spcPct val="220000"/>
              </a:lnSpc>
              <a:spcBef>
                <a:spcPts val="800"/>
              </a:spcBef>
              <a:spcAft>
                <a:spcPts val="0"/>
              </a:spcAft>
              <a:buSzPts val="1800"/>
              <a:buFont typeface="Arial"/>
              <a:buChar char="•"/>
            </a:pPr>
            <a:r>
              <a:rPr b="1" lang="en-US" sz="1400">
                <a:latin typeface="Times New Roman"/>
                <a:ea typeface="Times New Roman"/>
                <a:cs typeface="Times New Roman"/>
                <a:sym typeface="Times New Roman"/>
              </a:rPr>
              <a:t>Unemployment</a:t>
            </a:r>
            <a:r>
              <a:rPr b="1" lang="en-US" sz="1400">
                <a:latin typeface="Times New Roman"/>
                <a:ea typeface="Times New Roman"/>
                <a:cs typeface="Times New Roman"/>
                <a:sym typeface="Times New Roman"/>
              </a:rPr>
              <a:t> and Wage Growth</a:t>
            </a:r>
            <a:r>
              <a:rPr lang="en-US" sz="1400">
                <a:latin typeface="Times New Roman"/>
                <a:ea typeface="Times New Roman"/>
                <a:cs typeface="Times New Roman"/>
                <a:sym typeface="Times New Roman"/>
              </a:rPr>
              <a:t>: A negative relationship was found between unemployment and real wage growth. As unemployment rate increases, wage growth tends to stagnate or decline.</a:t>
            </a:r>
            <a:endParaRPr/>
          </a:p>
          <a:p>
            <a:pPr indent="-285750" lvl="0" marL="514350" rtl="0" algn="l">
              <a:lnSpc>
                <a:spcPct val="220000"/>
              </a:lnSpc>
              <a:spcBef>
                <a:spcPts val="800"/>
              </a:spcBef>
              <a:spcAft>
                <a:spcPts val="0"/>
              </a:spcAft>
              <a:buSzPts val="1800"/>
              <a:buFont typeface="Arial"/>
              <a:buChar char="•"/>
            </a:pPr>
            <a:r>
              <a:rPr b="1" lang="en-US" sz="1400">
                <a:latin typeface="Times New Roman"/>
                <a:ea typeface="Times New Roman"/>
                <a:cs typeface="Times New Roman"/>
                <a:sym typeface="Times New Roman"/>
              </a:rPr>
              <a:t>Unemployment Rate and GDP</a:t>
            </a:r>
            <a:r>
              <a:rPr lang="en-US" sz="1400">
                <a:latin typeface="Times New Roman"/>
                <a:ea typeface="Times New Roman"/>
                <a:cs typeface="Times New Roman"/>
                <a:sym typeface="Times New Roman"/>
              </a:rPr>
              <a:t>: The relationship between unemployment and GDP was inverse. Higher unemployment generally leads to lower GDP, and vice versa.</a:t>
            </a:r>
            <a:endParaRPr/>
          </a:p>
          <a:p>
            <a:pPr indent="-285750" lvl="0" marL="514350" rtl="0" algn="l">
              <a:lnSpc>
                <a:spcPct val="220000"/>
              </a:lnSpc>
              <a:spcBef>
                <a:spcPts val="800"/>
              </a:spcBef>
              <a:spcAft>
                <a:spcPts val="0"/>
              </a:spcAft>
              <a:buSzPts val="1800"/>
              <a:buFont typeface="Arial"/>
              <a:buChar char="•"/>
            </a:pPr>
            <a:r>
              <a:rPr b="1" lang="en-US" sz="1400">
                <a:latin typeface="Times New Roman"/>
                <a:ea typeface="Times New Roman"/>
                <a:cs typeface="Times New Roman"/>
                <a:sym typeface="Times New Roman"/>
              </a:rPr>
              <a:t>Regional Wage Disparities</a:t>
            </a:r>
            <a:r>
              <a:rPr lang="en-US" sz="1400">
                <a:latin typeface="Times New Roman"/>
                <a:ea typeface="Times New Roman"/>
                <a:cs typeface="Times New Roman"/>
                <a:sym typeface="Times New Roman"/>
              </a:rPr>
              <a:t>: Some regions (e.g., West Coast and Northeast) experienced faster wage growth, while others (e.g., South and Midwest) lagged behind.</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g31abb364ef2_0_15"/>
          <p:cNvSpPr txBox="1"/>
          <p:nvPr>
            <p:ph type="title"/>
          </p:nvPr>
        </p:nvSpPr>
        <p:spPr>
          <a:xfrm>
            <a:off x="457200" y="274320"/>
            <a:ext cx="82296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990000"/>
              </a:buClr>
              <a:buSzPts val="2100"/>
              <a:buFont typeface="Arial Black"/>
              <a:buNone/>
            </a:pPr>
            <a:r>
              <a:rPr lang="en-US" sz="2000"/>
              <a:t>Regression Model: Fixed-Effects</a:t>
            </a:r>
            <a:br>
              <a:rPr lang="en-US" sz="2000"/>
            </a:br>
            <a:endParaRPr sz="2000"/>
          </a:p>
        </p:txBody>
      </p:sp>
      <p:sp>
        <p:nvSpPr>
          <p:cNvPr id="137" name="Google Shape;137;g31abb364ef2_0_15"/>
          <p:cNvSpPr txBox="1"/>
          <p:nvPr>
            <p:ph idx="1" type="body"/>
          </p:nvPr>
        </p:nvSpPr>
        <p:spPr>
          <a:xfrm>
            <a:off x="457200" y="1357884"/>
            <a:ext cx="8229600" cy="3271200"/>
          </a:xfrm>
          <a:prstGeom prst="rect">
            <a:avLst/>
          </a:prstGeom>
          <a:noFill/>
          <a:ln>
            <a:noFill/>
          </a:ln>
        </p:spPr>
        <p:txBody>
          <a:bodyPr anchorCtr="0" anchor="t" bIns="34275" lIns="68575" spcFirstLastPara="1" rIns="68575" wrap="square" tIns="34275">
            <a:normAutofit/>
          </a:bodyPr>
          <a:lstStyle/>
          <a:p>
            <a:pPr indent="-228600" lvl="0" marL="457200" rtl="0" algn="l">
              <a:lnSpc>
                <a:spcPct val="90000"/>
              </a:lnSpc>
              <a:spcBef>
                <a:spcPts val="800"/>
              </a:spcBef>
              <a:spcAft>
                <a:spcPts val="0"/>
              </a:spcAft>
              <a:buClr>
                <a:schemeClr val="dk1"/>
              </a:buClr>
              <a:buSzPts val="1800"/>
              <a:buNone/>
            </a:pPr>
            <a:r>
              <a:rPr lang="en-US" sz="1400">
                <a:latin typeface="Times New Roman"/>
                <a:ea typeface="Times New Roman"/>
                <a:cs typeface="Times New Roman"/>
                <a:sym typeface="Times New Roman"/>
              </a:rPr>
              <a:t>We will be estimating the following model,: </a:t>
            </a:r>
            <a:endParaRPr sz="1400">
              <a:latin typeface="Times New Roman"/>
              <a:ea typeface="Times New Roman"/>
              <a:cs typeface="Times New Roman"/>
              <a:sym typeface="Times New Roman"/>
            </a:endParaRPr>
          </a:p>
          <a:p>
            <a:pPr indent="-228600" lvl="0" marL="457200" rtl="0" algn="l">
              <a:lnSpc>
                <a:spcPct val="90000"/>
              </a:lnSpc>
              <a:spcBef>
                <a:spcPts val="800"/>
              </a:spcBef>
              <a:spcAft>
                <a:spcPts val="0"/>
              </a:spcAft>
              <a:buClr>
                <a:schemeClr val="dk1"/>
              </a:buClr>
              <a:buSzPts val="1800"/>
              <a:buNone/>
            </a:pPr>
            <a:r>
              <a:t/>
            </a:r>
            <a:endParaRPr sz="1400">
              <a:latin typeface="Times New Roman"/>
              <a:ea typeface="Times New Roman"/>
              <a:cs typeface="Times New Roman"/>
              <a:sym typeface="Times New Roman"/>
            </a:endParaRPr>
          </a:p>
          <a:p>
            <a:pPr indent="-228600" lvl="0" marL="457200" rtl="0" algn="l">
              <a:lnSpc>
                <a:spcPct val="90000"/>
              </a:lnSpc>
              <a:spcBef>
                <a:spcPts val="800"/>
              </a:spcBef>
              <a:spcAft>
                <a:spcPts val="0"/>
              </a:spcAft>
              <a:buClr>
                <a:schemeClr val="dk1"/>
              </a:buClr>
              <a:buSzPts val="1800"/>
              <a:buNone/>
            </a:pPr>
            <a:r>
              <a:rPr lang="en-US" sz="1400">
                <a:latin typeface="Times New Roman"/>
                <a:ea typeface="Times New Roman"/>
                <a:cs typeface="Times New Roman"/>
                <a:sym typeface="Times New Roman"/>
              </a:rPr>
              <a:t>via Fixed-Effects OLS,: </a:t>
            </a:r>
            <a:endParaRPr sz="1400">
              <a:latin typeface="Times New Roman"/>
              <a:ea typeface="Times New Roman"/>
              <a:cs typeface="Times New Roman"/>
              <a:sym typeface="Times New Roman"/>
            </a:endParaRPr>
          </a:p>
          <a:p>
            <a:pPr indent="-228600" lvl="0" marL="457200" rtl="0" algn="l">
              <a:lnSpc>
                <a:spcPct val="90000"/>
              </a:lnSpc>
              <a:spcBef>
                <a:spcPts val="800"/>
              </a:spcBef>
              <a:spcAft>
                <a:spcPts val="0"/>
              </a:spcAft>
              <a:buClr>
                <a:schemeClr val="dk1"/>
              </a:buClr>
              <a:buSzPts val="1800"/>
              <a:buNone/>
            </a:pPr>
            <a:r>
              <a:t/>
            </a:r>
            <a:endParaRPr sz="1400">
              <a:latin typeface="Times New Roman"/>
              <a:ea typeface="Times New Roman"/>
              <a:cs typeface="Times New Roman"/>
              <a:sym typeface="Times New Roman"/>
            </a:endParaRPr>
          </a:p>
          <a:p>
            <a:pPr indent="-228600" lvl="0" marL="457200" rtl="0" algn="l">
              <a:lnSpc>
                <a:spcPct val="90000"/>
              </a:lnSpc>
              <a:spcBef>
                <a:spcPts val="800"/>
              </a:spcBef>
              <a:spcAft>
                <a:spcPts val="0"/>
              </a:spcAft>
              <a:buClr>
                <a:schemeClr val="dk1"/>
              </a:buClr>
              <a:buSzPts val="1800"/>
              <a:buNone/>
            </a:pPr>
            <a:r>
              <a:rPr lang="en-US" sz="1400">
                <a:latin typeface="Times New Roman"/>
                <a:ea typeface="Times New Roman"/>
                <a:cs typeface="Times New Roman"/>
                <a:sym typeface="Times New Roman"/>
              </a:rPr>
              <a:t>due to the following assumptions: </a:t>
            </a:r>
            <a:endParaRPr sz="1400">
              <a:latin typeface="Times New Roman"/>
              <a:ea typeface="Times New Roman"/>
              <a:cs typeface="Times New Roman"/>
              <a:sym typeface="Times New Roman"/>
            </a:endParaRPr>
          </a:p>
          <a:p>
            <a:pPr indent="-228600" lvl="0" marL="457200" rtl="0" algn="l">
              <a:lnSpc>
                <a:spcPct val="90000"/>
              </a:lnSpc>
              <a:spcBef>
                <a:spcPts val="800"/>
              </a:spcBef>
              <a:spcAft>
                <a:spcPts val="0"/>
              </a:spcAft>
              <a:buClr>
                <a:schemeClr val="dk1"/>
              </a:buClr>
              <a:buSzPts val="1800"/>
              <a:buNone/>
            </a:pPr>
            <a:r>
              <a:t/>
            </a:r>
            <a:endParaRPr sz="1400">
              <a:latin typeface="Times New Roman"/>
              <a:ea typeface="Times New Roman"/>
              <a:cs typeface="Times New Roman"/>
              <a:sym typeface="Times New Roman"/>
            </a:endParaRPr>
          </a:p>
          <a:p>
            <a:pPr indent="-228600" lvl="0" marL="457200" rtl="0" algn="l">
              <a:lnSpc>
                <a:spcPct val="90000"/>
              </a:lnSpc>
              <a:spcBef>
                <a:spcPts val="800"/>
              </a:spcBef>
              <a:spcAft>
                <a:spcPts val="0"/>
              </a:spcAft>
              <a:buClr>
                <a:schemeClr val="dk1"/>
              </a:buClr>
              <a:buSzPts val="1800"/>
              <a:buNone/>
            </a:pPr>
            <a:r>
              <a:t/>
            </a:r>
            <a:endParaRPr sz="1400">
              <a:latin typeface="Times New Roman"/>
              <a:ea typeface="Times New Roman"/>
              <a:cs typeface="Times New Roman"/>
              <a:sym typeface="Times New Roman"/>
            </a:endParaRPr>
          </a:p>
          <a:p>
            <a:pPr indent="-228600" lvl="0" marL="457200" rtl="0" algn="l">
              <a:lnSpc>
                <a:spcPct val="90000"/>
              </a:lnSpc>
              <a:spcBef>
                <a:spcPts val="800"/>
              </a:spcBef>
              <a:spcAft>
                <a:spcPts val="0"/>
              </a:spcAft>
              <a:buClr>
                <a:schemeClr val="dk1"/>
              </a:buClr>
              <a:buSzPts val="1800"/>
              <a:buNone/>
            </a:pPr>
            <a:r>
              <a:t/>
            </a:r>
            <a:endParaRPr sz="1400">
              <a:latin typeface="Times New Roman"/>
              <a:ea typeface="Times New Roman"/>
              <a:cs typeface="Times New Roman"/>
              <a:sym typeface="Times New Roman"/>
            </a:endParaRPr>
          </a:p>
        </p:txBody>
      </p:sp>
      <p:pic>
        <p:nvPicPr>
          <p:cNvPr id="138" name="Google Shape;138;g31abb364ef2_0_15"/>
          <p:cNvPicPr preferRelativeResize="0"/>
          <p:nvPr/>
        </p:nvPicPr>
        <p:blipFill>
          <a:blip r:embed="rId3">
            <a:alphaModFix/>
          </a:blip>
          <a:stretch>
            <a:fillRect/>
          </a:stretch>
        </p:blipFill>
        <p:spPr>
          <a:xfrm>
            <a:off x="3512849" y="2914050"/>
            <a:ext cx="1877575" cy="306275"/>
          </a:xfrm>
          <a:prstGeom prst="rect">
            <a:avLst/>
          </a:prstGeom>
          <a:noFill/>
          <a:ln>
            <a:noFill/>
          </a:ln>
        </p:spPr>
      </p:pic>
      <p:pic>
        <p:nvPicPr>
          <p:cNvPr id="139" name="Google Shape;139;g31abb364ef2_0_15"/>
          <p:cNvPicPr preferRelativeResize="0"/>
          <p:nvPr/>
        </p:nvPicPr>
        <p:blipFill>
          <a:blip r:embed="rId4">
            <a:alphaModFix/>
          </a:blip>
          <a:stretch>
            <a:fillRect/>
          </a:stretch>
        </p:blipFill>
        <p:spPr>
          <a:xfrm>
            <a:off x="3606413" y="2394835"/>
            <a:ext cx="1690450" cy="426475"/>
          </a:xfrm>
          <a:prstGeom prst="rect">
            <a:avLst/>
          </a:prstGeom>
          <a:noFill/>
          <a:ln>
            <a:noFill/>
          </a:ln>
        </p:spPr>
      </p:pic>
      <p:pic>
        <p:nvPicPr>
          <p:cNvPr id="140" name="Google Shape;140;g31abb364ef2_0_15"/>
          <p:cNvPicPr preferRelativeResize="0"/>
          <p:nvPr/>
        </p:nvPicPr>
        <p:blipFill>
          <a:blip r:embed="rId5">
            <a:alphaModFix/>
          </a:blip>
          <a:stretch>
            <a:fillRect/>
          </a:stretch>
        </p:blipFill>
        <p:spPr>
          <a:xfrm>
            <a:off x="4237384" y="1268525"/>
            <a:ext cx="2383691" cy="426475"/>
          </a:xfrm>
          <a:prstGeom prst="rect">
            <a:avLst/>
          </a:prstGeom>
          <a:noFill/>
          <a:ln>
            <a:noFill/>
          </a:ln>
        </p:spPr>
      </p:pic>
      <p:pic>
        <p:nvPicPr>
          <p:cNvPr id="141" name="Google Shape;141;g31abb364ef2_0_15"/>
          <p:cNvPicPr preferRelativeResize="0"/>
          <p:nvPr/>
        </p:nvPicPr>
        <p:blipFill>
          <a:blip r:embed="rId6">
            <a:alphaModFix/>
          </a:blip>
          <a:stretch>
            <a:fillRect/>
          </a:stretch>
        </p:blipFill>
        <p:spPr>
          <a:xfrm>
            <a:off x="2642600" y="1831664"/>
            <a:ext cx="3370734" cy="4264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31abb364ef2_0_6"/>
          <p:cNvSpPr txBox="1"/>
          <p:nvPr>
            <p:ph type="title"/>
          </p:nvPr>
        </p:nvSpPr>
        <p:spPr>
          <a:xfrm>
            <a:off x="457200" y="274320"/>
            <a:ext cx="82296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990000"/>
              </a:buClr>
              <a:buSzPts val="2100"/>
              <a:buFont typeface="Arial Black"/>
              <a:buNone/>
            </a:pPr>
            <a:r>
              <a:rPr lang="en-US" sz="2000"/>
              <a:t>Regression Model: Fixed-Effects</a:t>
            </a:r>
            <a:br>
              <a:rPr lang="en-US" sz="2000"/>
            </a:br>
            <a:endParaRPr sz="2000"/>
          </a:p>
        </p:txBody>
      </p:sp>
      <p:sp>
        <p:nvSpPr>
          <p:cNvPr id="147" name="Google Shape;147;g31abb364ef2_0_6"/>
          <p:cNvSpPr txBox="1"/>
          <p:nvPr>
            <p:ph idx="1" type="body"/>
          </p:nvPr>
        </p:nvSpPr>
        <p:spPr>
          <a:xfrm>
            <a:off x="457200" y="1357884"/>
            <a:ext cx="8229600" cy="3271200"/>
          </a:xfrm>
          <a:prstGeom prst="rect">
            <a:avLst/>
          </a:prstGeom>
          <a:noFill/>
          <a:ln>
            <a:noFill/>
          </a:ln>
        </p:spPr>
        <p:txBody>
          <a:bodyPr anchorCtr="0" anchor="t" bIns="34275" lIns="68575" spcFirstLastPara="1" rIns="68575" wrap="square" tIns="34275">
            <a:normAutofit/>
          </a:bodyPr>
          <a:lstStyle/>
          <a:p>
            <a:pPr indent="0" lvl="0" marL="0" rtl="0" algn="l">
              <a:spcBef>
                <a:spcPts val="800"/>
              </a:spcBef>
              <a:spcAft>
                <a:spcPts val="0"/>
              </a:spcAft>
              <a:buClr>
                <a:schemeClr val="dk1"/>
              </a:buClr>
              <a:buSzPts val="1800"/>
              <a:buNone/>
            </a:pPr>
            <a:r>
              <a:rPr lang="en-US" sz="1400">
                <a:latin typeface="Times New Roman"/>
                <a:ea typeface="Times New Roman"/>
                <a:cs typeface="Times New Roman"/>
                <a:sym typeface="Times New Roman"/>
              </a:rPr>
              <a:t>Y </a:t>
            </a:r>
            <a:r>
              <a:rPr lang="en-US" sz="1400">
                <a:latin typeface="Times New Roman"/>
                <a:ea typeface="Times New Roman"/>
                <a:cs typeface="Times New Roman"/>
                <a:sym typeface="Times New Roman"/>
              </a:rPr>
              <a:t>is log monthly real wage growth by region </a:t>
            </a:r>
            <a:endParaRPr sz="1400">
              <a:latin typeface="Times New Roman"/>
              <a:ea typeface="Times New Roman"/>
              <a:cs typeface="Times New Roman"/>
              <a:sym typeface="Times New Roman"/>
            </a:endParaRPr>
          </a:p>
          <a:p>
            <a:pPr indent="0" lvl="0" marL="0" rtl="0" algn="l">
              <a:lnSpc>
                <a:spcPct val="90000"/>
              </a:lnSpc>
              <a:spcBef>
                <a:spcPts val="800"/>
              </a:spcBef>
              <a:spcAft>
                <a:spcPts val="0"/>
              </a:spcAft>
              <a:buClr>
                <a:schemeClr val="dk1"/>
              </a:buClr>
              <a:buSzPts val="1800"/>
              <a:buNone/>
            </a:pPr>
            <a:r>
              <a:rPr lang="en-US" sz="1400">
                <a:latin typeface="Times New Roman"/>
                <a:ea typeface="Times New Roman"/>
                <a:cs typeface="Times New Roman"/>
                <a:sym typeface="Times New Roman"/>
              </a:rPr>
              <a:t>X is a vector representing the following controls: </a:t>
            </a:r>
            <a:endParaRPr sz="1400">
              <a:latin typeface="Times New Roman"/>
              <a:ea typeface="Times New Roman"/>
              <a:cs typeface="Times New Roman"/>
              <a:sym typeface="Times New Roman"/>
            </a:endParaRPr>
          </a:p>
          <a:p>
            <a:pPr indent="-317500" lvl="0" marL="457200" rtl="0" algn="l">
              <a:lnSpc>
                <a:spcPct val="90000"/>
              </a:lnSpc>
              <a:spcBef>
                <a:spcPts val="800"/>
              </a:spcBef>
              <a:spcAft>
                <a:spcPts val="0"/>
              </a:spcAft>
              <a:buSzPts val="1400"/>
              <a:buFont typeface="Times New Roman"/>
              <a:buChar char="●"/>
            </a:pPr>
            <a:r>
              <a:rPr b="1" lang="en-US" sz="1400">
                <a:latin typeface="Times New Roman"/>
                <a:ea typeface="Times New Roman"/>
                <a:cs typeface="Times New Roman"/>
                <a:sym typeface="Times New Roman"/>
              </a:rPr>
              <a:t>Monthly inflation by region </a:t>
            </a:r>
            <a:endParaRPr b="1" sz="1400">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US" sz="1400">
                <a:latin typeface="Times New Roman"/>
                <a:ea typeface="Times New Roman"/>
                <a:cs typeface="Times New Roman"/>
                <a:sym typeface="Times New Roman"/>
              </a:rPr>
              <a:t>log U</a:t>
            </a:r>
            <a:r>
              <a:rPr lang="en-US" sz="1400">
                <a:latin typeface="Times New Roman"/>
                <a:ea typeface="Times New Roman"/>
                <a:cs typeface="Times New Roman"/>
                <a:sym typeface="Times New Roman"/>
              </a:rPr>
              <a:t>nemployment by region</a:t>
            </a:r>
            <a:endParaRPr sz="1400">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US" sz="1400">
                <a:latin typeface="Times New Roman"/>
                <a:ea typeface="Times New Roman"/>
                <a:cs typeface="Times New Roman"/>
                <a:sym typeface="Times New Roman"/>
              </a:rPr>
              <a:t>log US population </a:t>
            </a:r>
            <a:endParaRPr sz="1400">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US" sz="1400">
                <a:latin typeface="Times New Roman"/>
                <a:ea typeface="Times New Roman"/>
                <a:cs typeface="Times New Roman"/>
                <a:sym typeface="Times New Roman"/>
              </a:rPr>
              <a:t>log Real GDP of the US (S&amp;P Index)</a:t>
            </a:r>
            <a:endParaRPr sz="1400">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US" sz="1400">
                <a:latin typeface="Times New Roman"/>
                <a:ea typeface="Times New Roman"/>
                <a:cs typeface="Times New Roman"/>
                <a:sym typeface="Times New Roman"/>
              </a:rPr>
              <a:t>Post 2020 dummy variables</a:t>
            </a:r>
            <a:endParaRPr sz="1400">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US" sz="1400">
                <a:latin typeface="Times New Roman"/>
                <a:ea typeface="Times New Roman"/>
                <a:cs typeface="Times New Roman"/>
                <a:sym typeface="Times New Roman"/>
              </a:rPr>
              <a:t>Region dummy variables</a:t>
            </a:r>
            <a:endParaRPr sz="1400">
              <a:latin typeface="Times New Roman"/>
              <a:ea typeface="Times New Roman"/>
              <a:cs typeface="Times New Roman"/>
              <a:sym typeface="Times New Roman"/>
            </a:endParaRPr>
          </a:p>
          <a:p>
            <a:pPr indent="-317500" lvl="0" marL="457200" rtl="0" algn="l">
              <a:lnSpc>
                <a:spcPct val="90000"/>
              </a:lnSpc>
              <a:spcBef>
                <a:spcPts val="0"/>
              </a:spcBef>
              <a:spcAft>
                <a:spcPts val="0"/>
              </a:spcAft>
              <a:buSzPts val="1400"/>
              <a:buFont typeface="Times New Roman"/>
              <a:buChar char="●"/>
            </a:pPr>
            <a:r>
              <a:rPr b="1" lang="en-US" sz="1400">
                <a:latin typeface="Times New Roman"/>
                <a:ea typeface="Times New Roman"/>
                <a:cs typeface="Times New Roman"/>
                <a:sym typeface="Times New Roman"/>
              </a:rPr>
              <a:t>Interaction between inflation and region</a:t>
            </a:r>
            <a:r>
              <a:rPr b="1" lang="en-US" sz="1400">
                <a:latin typeface="Times New Roman"/>
                <a:ea typeface="Times New Roman"/>
                <a:cs typeface="Times New Roman"/>
                <a:sym typeface="Times New Roman"/>
              </a:rPr>
              <a:t> </a:t>
            </a:r>
            <a:endParaRPr b="1" sz="1400">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b="1" lang="en-US" sz="1400">
                <a:latin typeface="Times New Roman"/>
                <a:ea typeface="Times New Roman"/>
                <a:cs typeface="Times New Roman"/>
                <a:sym typeface="Times New Roman"/>
              </a:rPr>
              <a:t>Interaction between post 2020 and inflation </a:t>
            </a:r>
            <a:endParaRPr b="1" sz="1400">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US" sz="1400">
                <a:latin typeface="Times New Roman"/>
                <a:ea typeface="Times New Roman"/>
                <a:cs typeface="Times New Roman"/>
                <a:sym typeface="Times New Roman"/>
              </a:rPr>
              <a:t>Interaction between region and unemployment</a:t>
            </a:r>
            <a:endParaRPr sz="1400">
              <a:latin typeface="Times New Roman"/>
              <a:ea typeface="Times New Roman"/>
              <a:cs typeface="Times New Roman"/>
              <a:sym typeface="Times New Roman"/>
            </a:endParaRPr>
          </a:p>
          <a:p>
            <a:pPr indent="0" lvl="0" marL="0" rtl="0" algn="l">
              <a:spcBef>
                <a:spcPts val="800"/>
              </a:spcBef>
              <a:spcAft>
                <a:spcPts val="0"/>
              </a:spcAft>
              <a:buNone/>
            </a:pPr>
            <a:r>
              <a:rPr lang="en-US" sz="1400">
                <a:latin typeface="Times New Roman"/>
                <a:ea typeface="Times New Roman"/>
                <a:cs typeface="Times New Roman"/>
                <a:sym typeface="Times New Roman"/>
              </a:rPr>
              <a:t>The betas related to the bolded are the focus of our research </a:t>
            </a:r>
            <a:endParaRPr sz="1400">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40"/>
          <p:cNvSpPr txBox="1"/>
          <p:nvPr>
            <p:ph type="title"/>
          </p:nvPr>
        </p:nvSpPr>
        <p:spPr>
          <a:xfrm>
            <a:off x="457200" y="274320"/>
            <a:ext cx="82296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990000"/>
              </a:buClr>
              <a:buSzPts val="2100"/>
              <a:buFont typeface="Arial Black"/>
              <a:buNone/>
            </a:pPr>
            <a:r>
              <a:rPr lang="en-US" sz="2000"/>
              <a:t>Model Coefficients Interpretation</a:t>
            </a:r>
            <a:br>
              <a:rPr lang="en-US" sz="2000"/>
            </a:br>
            <a:endParaRPr sz="2000"/>
          </a:p>
        </p:txBody>
      </p:sp>
      <p:sp>
        <p:nvSpPr>
          <p:cNvPr id="153" name="Google Shape;153;p40"/>
          <p:cNvSpPr txBox="1"/>
          <p:nvPr>
            <p:ph idx="1" type="body"/>
          </p:nvPr>
        </p:nvSpPr>
        <p:spPr>
          <a:xfrm>
            <a:off x="457200" y="1357884"/>
            <a:ext cx="8229600" cy="3271200"/>
          </a:xfrm>
          <a:prstGeom prst="rect">
            <a:avLst/>
          </a:prstGeom>
          <a:noFill/>
          <a:ln>
            <a:noFill/>
          </a:ln>
        </p:spPr>
        <p:txBody>
          <a:bodyPr anchorCtr="0" anchor="t" bIns="34275" lIns="68575" spcFirstLastPara="1" rIns="68575" wrap="square" tIns="34275">
            <a:normAutofit/>
          </a:bodyPr>
          <a:lstStyle/>
          <a:p>
            <a:pPr indent="-317500" lvl="0" marL="457200" rtl="0" algn="l">
              <a:spcBef>
                <a:spcPts val="800"/>
              </a:spcBef>
              <a:spcAft>
                <a:spcPts val="0"/>
              </a:spcAft>
              <a:buSzPts val="1400"/>
              <a:buFont typeface="Times New Roman"/>
              <a:buChar char="●"/>
            </a:pPr>
            <a:r>
              <a:rPr lang="en-US" sz="1400">
                <a:latin typeface="Times New Roman"/>
                <a:ea typeface="Times New Roman"/>
                <a:cs typeface="Times New Roman"/>
                <a:sym typeface="Times New Roman"/>
              </a:rPr>
              <a:t>A 1 percentage point change in </a:t>
            </a:r>
            <a:r>
              <a:rPr lang="en-US" sz="1400">
                <a:latin typeface="Times New Roman"/>
                <a:ea typeface="Times New Roman"/>
                <a:cs typeface="Times New Roman"/>
                <a:sym typeface="Times New Roman"/>
              </a:rPr>
              <a:t>monthly</a:t>
            </a:r>
            <a:r>
              <a:rPr lang="en-US" sz="1400">
                <a:latin typeface="Times New Roman"/>
                <a:ea typeface="Times New Roman"/>
                <a:cs typeface="Times New Roman"/>
                <a:sym typeface="Times New Roman"/>
              </a:rPr>
              <a:t> inflation is associated with a 0.18% decrease in real wages in the Pacific region (California, Oregon, </a:t>
            </a:r>
            <a:r>
              <a:rPr lang="en-US" sz="1400">
                <a:latin typeface="Times New Roman"/>
                <a:ea typeface="Times New Roman"/>
                <a:cs typeface="Times New Roman"/>
                <a:sym typeface="Times New Roman"/>
              </a:rPr>
              <a:t>Washington, Hawaii, Alaska</a:t>
            </a:r>
            <a:r>
              <a:rPr lang="en-US" sz="1400">
                <a:latin typeface="Times New Roman"/>
                <a:ea typeface="Times New Roman"/>
                <a:cs typeface="Times New Roman"/>
                <a:sym typeface="Times New Roman"/>
              </a:rPr>
              <a:t>)</a:t>
            </a:r>
            <a:endParaRPr sz="1400">
              <a:latin typeface="Times New Roman"/>
              <a:ea typeface="Times New Roman"/>
              <a:cs typeface="Times New Roman"/>
              <a:sym typeface="Times New Roman"/>
            </a:endParaRPr>
          </a:p>
          <a:p>
            <a:pPr indent="0" lvl="0" marL="0" rtl="0" algn="l">
              <a:spcBef>
                <a:spcPts val="800"/>
              </a:spcBef>
              <a:spcAft>
                <a:spcPts val="0"/>
              </a:spcAft>
              <a:buNone/>
            </a:pPr>
            <a:r>
              <a:t/>
            </a:r>
            <a:endParaRPr sz="1400">
              <a:latin typeface="Times New Roman"/>
              <a:ea typeface="Times New Roman"/>
              <a:cs typeface="Times New Roman"/>
              <a:sym typeface="Times New Roman"/>
            </a:endParaRPr>
          </a:p>
          <a:p>
            <a:pPr indent="-317500" lvl="0" marL="457200" rtl="0" algn="l">
              <a:spcBef>
                <a:spcPts val="800"/>
              </a:spcBef>
              <a:spcAft>
                <a:spcPts val="0"/>
              </a:spcAft>
              <a:buSzPts val="1400"/>
              <a:buFont typeface="Times New Roman"/>
              <a:buChar char="●"/>
            </a:pPr>
            <a:r>
              <a:rPr lang="en-US" sz="1400">
                <a:latin typeface="Times New Roman"/>
                <a:ea typeface="Times New Roman"/>
                <a:cs typeface="Times New Roman"/>
                <a:sym typeface="Times New Roman"/>
              </a:rPr>
              <a:t>The regions that are most negatively affected by inflation are:</a:t>
            </a:r>
            <a:endParaRPr sz="1400">
              <a:latin typeface="Times New Roman"/>
              <a:ea typeface="Times New Roman"/>
              <a:cs typeface="Times New Roman"/>
              <a:sym typeface="Times New Roman"/>
            </a:endParaRPr>
          </a:p>
          <a:p>
            <a:pPr indent="-317500" lvl="1" marL="914400" rtl="0" algn="l">
              <a:spcBef>
                <a:spcPts val="0"/>
              </a:spcBef>
              <a:spcAft>
                <a:spcPts val="0"/>
              </a:spcAft>
              <a:buSzPts val="1400"/>
              <a:buFont typeface="Times New Roman"/>
              <a:buChar char="○"/>
            </a:pPr>
            <a:r>
              <a:rPr lang="en-US" sz="1400">
                <a:latin typeface="Times New Roman"/>
                <a:ea typeface="Times New Roman"/>
                <a:cs typeface="Times New Roman"/>
                <a:sym typeface="Times New Roman"/>
              </a:rPr>
              <a:t>East South Central (0.321%) (Alabama, Kentucky, Mississippi, and Tennessee)</a:t>
            </a:r>
            <a:endParaRPr sz="1400">
              <a:latin typeface="Times New Roman"/>
              <a:ea typeface="Times New Roman"/>
              <a:cs typeface="Times New Roman"/>
              <a:sym typeface="Times New Roman"/>
            </a:endParaRPr>
          </a:p>
          <a:p>
            <a:pPr indent="-317500" lvl="1" marL="914400" rtl="0" algn="l">
              <a:spcBef>
                <a:spcPts val="0"/>
              </a:spcBef>
              <a:spcAft>
                <a:spcPts val="0"/>
              </a:spcAft>
              <a:buSzPts val="1400"/>
              <a:buFont typeface="Times New Roman"/>
              <a:buChar char="○"/>
            </a:pPr>
            <a:r>
              <a:rPr lang="en-US" sz="1400">
                <a:latin typeface="Times New Roman"/>
                <a:ea typeface="Times New Roman"/>
                <a:cs typeface="Times New Roman"/>
                <a:sym typeface="Times New Roman"/>
              </a:rPr>
              <a:t>South Atlantic (0.284%) (Florida, Georgia, North Carolina, South Carolina, Virginia, Washington, D.C., Delaware, and West Virginia)</a:t>
            </a:r>
            <a:endParaRPr sz="1400">
              <a:latin typeface="Times New Roman"/>
              <a:ea typeface="Times New Roman"/>
              <a:cs typeface="Times New Roman"/>
              <a:sym typeface="Times New Roman"/>
            </a:endParaRPr>
          </a:p>
          <a:p>
            <a:pPr indent="-317500" lvl="1" marL="914400" rtl="0" algn="l">
              <a:spcBef>
                <a:spcPts val="0"/>
              </a:spcBef>
              <a:spcAft>
                <a:spcPts val="0"/>
              </a:spcAft>
              <a:buSzPts val="1400"/>
              <a:buFont typeface="Times New Roman"/>
              <a:buChar char="○"/>
            </a:pPr>
            <a:r>
              <a:rPr lang="en-US" sz="1400">
                <a:latin typeface="Times New Roman"/>
                <a:ea typeface="Times New Roman"/>
                <a:cs typeface="Times New Roman"/>
                <a:sym typeface="Times New Roman"/>
              </a:rPr>
              <a:t>West South Central </a:t>
            </a:r>
            <a:r>
              <a:rPr lang="en-US" sz="1400">
                <a:latin typeface="Times New Roman"/>
                <a:ea typeface="Times New Roman"/>
                <a:cs typeface="Times New Roman"/>
                <a:sym typeface="Times New Roman"/>
              </a:rPr>
              <a:t>(0.228%) (Arkansas, Louisiana, Oklahoma, and Texas)</a:t>
            </a:r>
            <a:endParaRPr sz="1400">
              <a:latin typeface="Times New Roman"/>
              <a:ea typeface="Times New Roman"/>
              <a:cs typeface="Times New Roman"/>
              <a:sym typeface="Times New Roman"/>
            </a:endParaRPr>
          </a:p>
          <a:p>
            <a:pPr indent="0" lvl="0" marL="0" rtl="0" algn="l">
              <a:spcBef>
                <a:spcPts val="800"/>
              </a:spcBef>
              <a:spcAft>
                <a:spcPts val="0"/>
              </a:spcAft>
              <a:buNone/>
            </a:pPr>
            <a:r>
              <a:t/>
            </a:r>
            <a:endParaRPr sz="1400">
              <a:latin typeface="Times New Roman"/>
              <a:ea typeface="Times New Roman"/>
              <a:cs typeface="Times New Roman"/>
              <a:sym typeface="Times New Roman"/>
            </a:endParaRPr>
          </a:p>
          <a:p>
            <a:pPr indent="-317500" lvl="0" marL="457200" rtl="0" algn="l">
              <a:spcBef>
                <a:spcPts val="800"/>
              </a:spcBef>
              <a:spcAft>
                <a:spcPts val="0"/>
              </a:spcAft>
              <a:buSzPts val="1400"/>
              <a:buFont typeface="Times New Roman"/>
              <a:buChar char="●"/>
            </a:pPr>
            <a:r>
              <a:rPr lang="en-US" sz="1400">
                <a:latin typeface="Times New Roman"/>
                <a:ea typeface="Times New Roman"/>
                <a:cs typeface="Times New Roman"/>
                <a:sym typeface="Times New Roman"/>
              </a:rPr>
              <a:t>Effect of inflation on real wages did not change after 2020. While our model says that on average the effect is 0.04% stronger across all regions, it is also not statistically significant at any commonly used significance level (5%, 10% etc).</a:t>
            </a:r>
            <a:endParaRPr sz="1400">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1abb364ef2_0_24"/>
          <p:cNvSpPr txBox="1"/>
          <p:nvPr>
            <p:ph type="title"/>
          </p:nvPr>
        </p:nvSpPr>
        <p:spPr>
          <a:xfrm>
            <a:off x="457200" y="274320"/>
            <a:ext cx="82296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990000"/>
              </a:buClr>
              <a:buSzPts val="2100"/>
              <a:buFont typeface="Arial Black"/>
              <a:buNone/>
            </a:pPr>
            <a:r>
              <a:rPr lang="en-US" sz="2000"/>
              <a:t>Validity Check (Post 2020)</a:t>
            </a:r>
            <a:br>
              <a:rPr lang="en-US" sz="2000"/>
            </a:br>
            <a:endParaRPr sz="2000"/>
          </a:p>
        </p:txBody>
      </p:sp>
      <p:sp>
        <p:nvSpPr>
          <p:cNvPr id="159" name="Google Shape;159;g31abb364ef2_0_24"/>
          <p:cNvSpPr txBox="1"/>
          <p:nvPr>
            <p:ph idx="1" type="body"/>
          </p:nvPr>
        </p:nvSpPr>
        <p:spPr>
          <a:xfrm>
            <a:off x="457200" y="1357884"/>
            <a:ext cx="8229600" cy="3271200"/>
          </a:xfrm>
          <a:prstGeom prst="rect">
            <a:avLst/>
          </a:prstGeom>
          <a:noFill/>
          <a:ln>
            <a:noFill/>
          </a:ln>
        </p:spPr>
        <p:txBody>
          <a:bodyPr anchorCtr="0" anchor="t" bIns="34275" lIns="68575" spcFirstLastPara="1" rIns="68575" wrap="square" tIns="34275">
            <a:normAutofit/>
          </a:bodyPr>
          <a:lstStyle/>
          <a:p>
            <a:pPr indent="-317500" lvl="0" marL="457200" rtl="0" algn="l">
              <a:spcBef>
                <a:spcPts val="800"/>
              </a:spcBef>
              <a:spcAft>
                <a:spcPts val="0"/>
              </a:spcAft>
              <a:buSzPts val="1400"/>
              <a:buFont typeface="Times New Roman"/>
              <a:buChar char="●"/>
            </a:pPr>
            <a:r>
              <a:rPr lang="en-US" sz="1400">
                <a:latin typeface="Times New Roman"/>
                <a:ea typeface="Times New Roman"/>
                <a:cs typeface="Times New Roman"/>
                <a:sym typeface="Times New Roman"/>
              </a:rPr>
              <a:t>Original Post 2020 dummy </a:t>
            </a:r>
            <a:r>
              <a:rPr lang="en-US" sz="1400">
                <a:latin typeface="Times New Roman"/>
                <a:ea typeface="Times New Roman"/>
                <a:cs typeface="Times New Roman"/>
                <a:sym typeface="Times New Roman"/>
              </a:rPr>
              <a:t>variable</a:t>
            </a:r>
            <a:r>
              <a:rPr lang="en-US" sz="1400">
                <a:latin typeface="Times New Roman"/>
                <a:ea typeface="Times New Roman"/>
                <a:cs typeface="Times New Roman"/>
                <a:sym typeface="Times New Roman"/>
              </a:rPr>
              <a:t> is coded as 0 pre Jan 1 2020 and 1 afterwards</a:t>
            </a:r>
            <a:endParaRPr sz="1400">
              <a:latin typeface="Times New Roman"/>
              <a:ea typeface="Times New Roman"/>
              <a:cs typeface="Times New Roman"/>
              <a:sym typeface="Times New Roman"/>
            </a:endParaRPr>
          </a:p>
          <a:p>
            <a:pPr indent="0" lvl="0" marL="0" rtl="0" algn="l">
              <a:spcBef>
                <a:spcPts val="800"/>
              </a:spcBef>
              <a:spcAft>
                <a:spcPts val="0"/>
              </a:spcAft>
              <a:buNone/>
            </a:pPr>
            <a:r>
              <a:t/>
            </a:r>
            <a:endParaRPr sz="1400">
              <a:latin typeface="Times New Roman"/>
              <a:ea typeface="Times New Roman"/>
              <a:cs typeface="Times New Roman"/>
              <a:sym typeface="Times New Roman"/>
            </a:endParaRPr>
          </a:p>
          <a:p>
            <a:pPr indent="0" lvl="0" marL="0" rtl="0" algn="l">
              <a:spcBef>
                <a:spcPts val="800"/>
              </a:spcBef>
              <a:spcAft>
                <a:spcPts val="0"/>
              </a:spcAft>
              <a:buNone/>
            </a:pPr>
            <a:r>
              <a:t/>
            </a:r>
            <a:endParaRPr sz="1400">
              <a:latin typeface="Times New Roman"/>
              <a:ea typeface="Times New Roman"/>
              <a:cs typeface="Times New Roman"/>
              <a:sym typeface="Times New Roman"/>
            </a:endParaRPr>
          </a:p>
          <a:p>
            <a:pPr indent="-317500" lvl="0" marL="457200" rtl="0" algn="l">
              <a:spcBef>
                <a:spcPts val="800"/>
              </a:spcBef>
              <a:spcAft>
                <a:spcPts val="0"/>
              </a:spcAft>
              <a:buSzPts val="1400"/>
              <a:buFont typeface="Times New Roman"/>
              <a:buChar char="●"/>
            </a:pPr>
            <a:r>
              <a:rPr lang="en-US" sz="1400">
                <a:latin typeface="Times New Roman"/>
                <a:ea typeface="Times New Roman"/>
                <a:cs typeface="Times New Roman"/>
                <a:sym typeface="Times New Roman"/>
              </a:rPr>
              <a:t>We run two additional regressions with the dummy variable designed differently, setting the cutoff dates to </a:t>
            </a:r>
            <a:endParaRPr sz="1400">
              <a:latin typeface="Times New Roman"/>
              <a:ea typeface="Times New Roman"/>
              <a:cs typeface="Times New Roman"/>
              <a:sym typeface="Times New Roman"/>
            </a:endParaRPr>
          </a:p>
          <a:p>
            <a:pPr indent="-317500" lvl="1" marL="914400" rtl="0" algn="l">
              <a:spcBef>
                <a:spcPts val="0"/>
              </a:spcBef>
              <a:spcAft>
                <a:spcPts val="0"/>
              </a:spcAft>
              <a:buSzPts val="1400"/>
              <a:buFont typeface="Times New Roman"/>
              <a:buChar char="○"/>
            </a:pPr>
            <a:r>
              <a:rPr lang="en-US" sz="1400">
                <a:latin typeface="Times New Roman"/>
                <a:ea typeface="Times New Roman"/>
                <a:cs typeface="Times New Roman"/>
                <a:sym typeface="Times New Roman"/>
              </a:rPr>
              <a:t>July 1 2020</a:t>
            </a:r>
            <a:endParaRPr sz="1400">
              <a:latin typeface="Times New Roman"/>
              <a:ea typeface="Times New Roman"/>
              <a:cs typeface="Times New Roman"/>
              <a:sym typeface="Times New Roman"/>
            </a:endParaRPr>
          </a:p>
          <a:p>
            <a:pPr indent="-317500" lvl="1" marL="914400" rtl="0" algn="l">
              <a:spcBef>
                <a:spcPts val="0"/>
              </a:spcBef>
              <a:spcAft>
                <a:spcPts val="0"/>
              </a:spcAft>
              <a:buSzPts val="1400"/>
              <a:buFont typeface="Times New Roman"/>
              <a:buChar char="○"/>
            </a:pPr>
            <a:r>
              <a:rPr lang="en-US" sz="1400">
                <a:latin typeface="Times New Roman"/>
                <a:ea typeface="Times New Roman"/>
                <a:cs typeface="Times New Roman"/>
                <a:sym typeface="Times New Roman"/>
              </a:rPr>
              <a:t>Jan 1 2021</a:t>
            </a:r>
            <a:endParaRPr sz="1400">
              <a:latin typeface="Times New Roman"/>
              <a:ea typeface="Times New Roman"/>
              <a:cs typeface="Times New Roman"/>
              <a:sym typeface="Times New Roman"/>
            </a:endParaRPr>
          </a:p>
          <a:p>
            <a:pPr indent="0" lvl="0" marL="0" rtl="0" algn="l">
              <a:spcBef>
                <a:spcPts val="800"/>
              </a:spcBef>
              <a:spcAft>
                <a:spcPts val="0"/>
              </a:spcAft>
              <a:buNone/>
            </a:pPr>
            <a:r>
              <a:t/>
            </a:r>
            <a:endParaRPr sz="1400">
              <a:latin typeface="Times New Roman"/>
              <a:ea typeface="Times New Roman"/>
              <a:cs typeface="Times New Roman"/>
              <a:sym typeface="Times New Roman"/>
            </a:endParaRPr>
          </a:p>
          <a:p>
            <a:pPr indent="-317500" lvl="0" marL="457200" rtl="0" algn="l">
              <a:spcBef>
                <a:spcPts val="800"/>
              </a:spcBef>
              <a:spcAft>
                <a:spcPts val="0"/>
              </a:spcAft>
              <a:buSzPts val="1400"/>
              <a:buFont typeface="Times New Roman"/>
              <a:buChar char="●"/>
            </a:pPr>
            <a:r>
              <a:rPr lang="en-US" sz="1400">
                <a:latin typeface="Times New Roman"/>
                <a:ea typeface="Times New Roman"/>
                <a:cs typeface="Times New Roman"/>
                <a:sym typeface="Times New Roman"/>
              </a:rPr>
              <a:t>This will help us check for structural breaks.</a:t>
            </a:r>
            <a:endParaRPr sz="1400">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g31abb364ef2_0_38"/>
          <p:cNvSpPr txBox="1"/>
          <p:nvPr>
            <p:ph type="title"/>
          </p:nvPr>
        </p:nvSpPr>
        <p:spPr>
          <a:xfrm>
            <a:off x="457200" y="274320"/>
            <a:ext cx="82296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990000"/>
              </a:buClr>
              <a:buSzPts val="2100"/>
              <a:buFont typeface="Arial Black"/>
              <a:buNone/>
            </a:pPr>
            <a:r>
              <a:rPr lang="en-US" sz="2000"/>
              <a:t>Validity Check (Post 2020)</a:t>
            </a:r>
            <a:br>
              <a:rPr lang="en-US" sz="2000"/>
            </a:br>
            <a:endParaRPr sz="2000"/>
          </a:p>
        </p:txBody>
      </p:sp>
      <p:sp>
        <p:nvSpPr>
          <p:cNvPr id="165" name="Google Shape;165;g31abb364ef2_0_38"/>
          <p:cNvSpPr txBox="1"/>
          <p:nvPr>
            <p:ph idx="1" type="body"/>
          </p:nvPr>
        </p:nvSpPr>
        <p:spPr>
          <a:xfrm>
            <a:off x="457200" y="1357884"/>
            <a:ext cx="8229600" cy="3271200"/>
          </a:xfrm>
          <a:prstGeom prst="rect">
            <a:avLst/>
          </a:prstGeom>
          <a:noFill/>
          <a:ln>
            <a:noFill/>
          </a:ln>
        </p:spPr>
        <p:txBody>
          <a:bodyPr anchorCtr="0" anchor="t" bIns="34275" lIns="68575" spcFirstLastPara="1" rIns="68575" wrap="square" tIns="34275">
            <a:normAutofit/>
          </a:bodyPr>
          <a:lstStyle/>
          <a:p>
            <a:pPr indent="-330200" lvl="0" marL="457200" rtl="0" algn="l">
              <a:spcBef>
                <a:spcPts val="800"/>
              </a:spcBef>
              <a:spcAft>
                <a:spcPts val="0"/>
              </a:spcAft>
              <a:buSzPts val="1600"/>
              <a:buFont typeface="Times New Roman"/>
              <a:buChar char="●"/>
            </a:pPr>
            <a:r>
              <a:rPr lang="en-US" sz="1400">
                <a:latin typeface="Times New Roman"/>
                <a:ea typeface="Times New Roman"/>
                <a:cs typeface="Times New Roman"/>
                <a:sym typeface="Times New Roman"/>
              </a:rPr>
              <a:t>We now see evidence of a structural break. The effect of inflation on real wages was exacerbated, on average, after COVID-19</a:t>
            </a:r>
            <a:endParaRPr sz="1400">
              <a:latin typeface="Times New Roman"/>
              <a:ea typeface="Times New Roman"/>
              <a:cs typeface="Times New Roman"/>
              <a:sym typeface="Times New Roman"/>
            </a:endParaRPr>
          </a:p>
          <a:p>
            <a:pPr indent="0" lvl="0" marL="457200" rtl="0" algn="l">
              <a:spcBef>
                <a:spcPts val="800"/>
              </a:spcBef>
              <a:spcAft>
                <a:spcPts val="0"/>
              </a:spcAft>
              <a:buNone/>
            </a:pPr>
            <a:r>
              <a:t/>
            </a:r>
            <a:endParaRPr sz="1400">
              <a:latin typeface="Times New Roman"/>
              <a:ea typeface="Times New Roman"/>
              <a:cs typeface="Times New Roman"/>
              <a:sym typeface="Times New Roman"/>
            </a:endParaRPr>
          </a:p>
          <a:p>
            <a:pPr indent="-317500" lvl="1" marL="914400" rtl="0" algn="l">
              <a:spcBef>
                <a:spcPts val="400"/>
              </a:spcBef>
              <a:spcAft>
                <a:spcPts val="0"/>
              </a:spcAft>
              <a:buSzPts val="1400"/>
              <a:buFont typeface="Times New Roman"/>
              <a:buChar char="○"/>
            </a:pPr>
            <a:r>
              <a:rPr lang="en-US" sz="1400">
                <a:latin typeface="Times New Roman"/>
                <a:ea typeface="Times New Roman"/>
                <a:cs typeface="Times New Roman"/>
                <a:sym typeface="Times New Roman"/>
              </a:rPr>
              <a:t>J</a:t>
            </a:r>
            <a:r>
              <a:rPr lang="en-US" sz="1400">
                <a:latin typeface="Times New Roman"/>
                <a:ea typeface="Times New Roman"/>
                <a:cs typeface="Times New Roman"/>
                <a:sym typeface="Times New Roman"/>
              </a:rPr>
              <a:t>uly 1 2020 Cutoff Estimate: 0.06%</a:t>
            </a:r>
            <a:endParaRPr sz="1400">
              <a:latin typeface="Times New Roman"/>
              <a:ea typeface="Times New Roman"/>
              <a:cs typeface="Times New Roman"/>
              <a:sym typeface="Times New Roman"/>
            </a:endParaRPr>
          </a:p>
          <a:p>
            <a:pPr indent="-317500" lvl="1" marL="914400" rtl="0" algn="l">
              <a:spcBef>
                <a:spcPts val="0"/>
              </a:spcBef>
              <a:spcAft>
                <a:spcPts val="0"/>
              </a:spcAft>
              <a:buSzPts val="1400"/>
              <a:buFont typeface="Times New Roman"/>
              <a:buChar char="○"/>
            </a:pPr>
            <a:r>
              <a:rPr lang="en-US" sz="1400">
                <a:latin typeface="Times New Roman"/>
                <a:ea typeface="Times New Roman"/>
                <a:cs typeface="Times New Roman"/>
                <a:sym typeface="Times New Roman"/>
              </a:rPr>
              <a:t>Jan 1 2021 Cutoff  Estimate:  0.07%</a:t>
            </a:r>
            <a:endParaRPr sz="1400">
              <a:latin typeface="Times New Roman"/>
              <a:ea typeface="Times New Roman"/>
              <a:cs typeface="Times New Roman"/>
              <a:sym typeface="Times New Roman"/>
            </a:endParaRPr>
          </a:p>
          <a:p>
            <a:pPr indent="0" lvl="0" marL="0" rtl="0" algn="l">
              <a:spcBef>
                <a:spcPts val="800"/>
              </a:spcBef>
              <a:spcAft>
                <a:spcPts val="0"/>
              </a:spcAft>
              <a:buNone/>
            </a:pPr>
            <a:r>
              <a:t/>
            </a:r>
            <a:endParaRPr sz="1400">
              <a:latin typeface="Times New Roman"/>
              <a:ea typeface="Times New Roman"/>
              <a:cs typeface="Times New Roman"/>
              <a:sym typeface="Times New Roman"/>
            </a:endParaRPr>
          </a:p>
          <a:p>
            <a:pPr indent="-317500" lvl="0" marL="457200" rtl="0" algn="l">
              <a:spcBef>
                <a:spcPts val="800"/>
              </a:spcBef>
              <a:spcAft>
                <a:spcPts val="0"/>
              </a:spcAft>
              <a:buSzPts val="1400"/>
              <a:buFont typeface="Times New Roman"/>
              <a:buChar char="●"/>
            </a:pPr>
            <a:r>
              <a:rPr lang="en-US" sz="1400">
                <a:latin typeface="Times New Roman"/>
                <a:ea typeface="Times New Roman"/>
                <a:cs typeface="Times New Roman"/>
                <a:sym typeface="Times New Roman"/>
              </a:rPr>
              <a:t>Both are significant at the 5% level. </a:t>
            </a:r>
            <a:endParaRPr sz="1400">
              <a:latin typeface="Times New Roman"/>
              <a:ea typeface="Times New Roman"/>
              <a:cs typeface="Times New Roman"/>
              <a:sym typeface="Times New Roman"/>
            </a:endParaRPr>
          </a:p>
          <a:p>
            <a:pPr indent="0" lvl="0" marL="0" rtl="0" algn="l">
              <a:spcBef>
                <a:spcPts val="800"/>
              </a:spcBef>
              <a:spcAft>
                <a:spcPts val="0"/>
              </a:spcAft>
              <a:buNone/>
            </a:pPr>
            <a:r>
              <a:t/>
            </a:r>
            <a:endParaRPr sz="1400">
              <a:latin typeface="Times New Roman"/>
              <a:ea typeface="Times New Roman"/>
              <a:cs typeface="Times New Roman"/>
              <a:sym typeface="Times New Roman"/>
            </a:endParaRPr>
          </a:p>
          <a:p>
            <a:pPr indent="0" lvl="0" marL="0" rtl="0" algn="l">
              <a:spcBef>
                <a:spcPts val="800"/>
              </a:spcBef>
              <a:spcAft>
                <a:spcPts val="0"/>
              </a:spcAft>
              <a:buNone/>
            </a:pPr>
            <a:r>
              <a:t/>
            </a:r>
            <a:endParaRPr sz="1400">
              <a:latin typeface="Times New Roman"/>
              <a:ea typeface="Times New Roman"/>
              <a:cs typeface="Times New Roman"/>
              <a:sym typeface="Times New Roman"/>
            </a:endParaRPr>
          </a:p>
          <a:p>
            <a:pPr indent="-317500" lvl="0" marL="457200" rtl="0" algn="l">
              <a:spcBef>
                <a:spcPts val="800"/>
              </a:spcBef>
              <a:spcAft>
                <a:spcPts val="0"/>
              </a:spcAft>
              <a:buSzPts val="1400"/>
              <a:buFont typeface="Times New Roman"/>
              <a:buChar char="●"/>
            </a:pPr>
            <a:r>
              <a:rPr lang="en-US" sz="1400">
                <a:latin typeface="Times New Roman"/>
                <a:ea typeface="Times New Roman"/>
                <a:cs typeface="Times New Roman"/>
                <a:sym typeface="Times New Roman"/>
              </a:rPr>
              <a:t>Ranking of effect of inflation on wages between regions does not </a:t>
            </a:r>
            <a:r>
              <a:rPr lang="en-US" sz="1400">
                <a:latin typeface="Times New Roman"/>
                <a:ea typeface="Times New Roman"/>
                <a:cs typeface="Times New Roman"/>
                <a:sym typeface="Times New Roman"/>
              </a:rPr>
              <a:t>change. </a:t>
            </a:r>
            <a:endParaRPr sz="1400">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0"/>
          <p:cNvSpPr txBox="1"/>
          <p:nvPr>
            <p:ph type="title"/>
          </p:nvPr>
        </p:nvSpPr>
        <p:spPr>
          <a:xfrm>
            <a:off x="457200" y="274320"/>
            <a:ext cx="82296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990000"/>
              </a:buClr>
              <a:buSzPts val="2100"/>
              <a:buFont typeface="Arial Black"/>
              <a:buNone/>
            </a:pPr>
            <a:r>
              <a:rPr lang="en-US" sz="2000"/>
              <a:t>Conclusion</a:t>
            </a:r>
            <a:endParaRPr sz="2000"/>
          </a:p>
        </p:txBody>
      </p:sp>
      <p:sp>
        <p:nvSpPr>
          <p:cNvPr id="171" name="Google Shape;171;p10"/>
          <p:cNvSpPr txBox="1"/>
          <p:nvPr>
            <p:ph idx="1" type="body"/>
          </p:nvPr>
        </p:nvSpPr>
        <p:spPr>
          <a:xfrm>
            <a:off x="457200" y="1268520"/>
            <a:ext cx="8229600" cy="3360564"/>
          </a:xfrm>
          <a:prstGeom prst="rect">
            <a:avLst/>
          </a:prstGeom>
          <a:noFill/>
          <a:ln>
            <a:noFill/>
          </a:ln>
        </p:spPr>
        <p:txBody>
          <a:bodyPr anchorCtr="0" anchor="t" bIns="34275" lIns="68575" spcFirstLastPara="1" rIns="68575" wrap="square" tIns="34275">
            <a:noAutofit/>
          </a:bodyPr>
          <a:lstStyle/>
          <a:p>
            <a:pPr indent="-241300" lvl="0" marL="457200" rtl="0" algn="l">
              <a:lnSpc>
                <a:spcPct val="115000"/>
              </a:lnSpc>
              <a:spcBef>
                <a:spcPts val="800"/>
              </a:spcBef>
              <a:spcAft>
                <a:spcPts val="0"/>
              </a:spcAft>
              <a:buSzPts val="2000"/>
              <a:buFont typeface="Arial"/>
              <a:buChar char="•"/>
            </a:pPr>
            <a:r>
              <a:rPr lang="en-US" sz="1600">
                <a:latin typeface="Times New Roman"/>
                <a:ea typeface="Times New Roman"/>
                <a:cs typeface="Times New Roman"/>
                <a:sym typeface="Times New Roman"/>
              </a:rPr>
              <a:t>Inflation negatively impacts  real wage growth across all regions, especially during high inflation periods. </a:t>
            </a:r>
            <a:endParaRPr sz="1600">
              <a:latin typeface="Times New Roman"/>
              <a:ea typeface="Times New Roman"/>
              <a:cs typeface="Times New Roman"/>
              <a:sym typeface="Times New Roman"/>
            </a:endParaRPr>
          </a:p>
          <a:p>
            <a:pPr indent="0" lvl="0" marL="457200" rtl="0" algn="l">
              <a:lnSpc>
                <a:spcPct val="115000"/>
              </a:lnSpc>
              <a:spcBef>
                <a:spcPts val="800"/>
              </a:spcBef>
              <a:spcAft>
                <a:spcPts val="0"/>
              </a:spcAft>
              <a:buNone/>
            </a:pPr>
            <a:r>
              <a:t/>
            </a:r>
            <a:endParaRPr sz="1600">
              <a:latin typeface="Times New Roman"/>
              <a:ea typeface="Times New Roman"/>
              <a:cs typeface="Times New Roman"/>
              <a:sym typeface="Times New Roman"/>
            </a:endParaRPr>
          </a:p>
          <a:p>
            <a:pPr indent="-241300" lvl="0" marL="457200" rtl="0" algn="l">
              <a:lnSpc>
                <a:spcPct val="115000"/>
              </a:lnSpc>
              <a:spcBef>
                <a:spcPts val="800"/>
              </a:spcBef>
              <a:spcAft>
                <a:spcPts val="0"/>
              </a:spcAft>
              <a:buSzPts val="2000"/>
              <a:buFont typeface="Arial"/>
              <a:buChar char="•"/>
            </a:pPr>
            <a:r>
              <a:rPr lang="en-US" sz="1600">
                <a:latin typeface="Times New Roman"/>
                <a:ea typeface="Times New Roman"/>
                <a:cs typeface="Times New Roman"/>
                <a:sym typeface="Times New Roman"/>
              </a:rPr>
              <a:t>Unemployment levels directly affect real wage growth</a:t>
            </a:r>
            <a:endParaRPr sz="1600">
              <a:latin typeface="Times New Roman"/>
              <a:ea typeface="Times New Roman"/>
              <a:cs typeface="Times New Roman"/>
              <a:sym typeface="Times New Roman"/>
            </a:endParaRPr>
          </a:p>
          <a:p>
            <a:pPr indent="0" lvl="0" marL="457200" rtl="0" algn="l">
              <a:lnSpc>
                <a:spcPct val="115000"/>
              </a:lnSpc>
              <a:spcBef>
                <a:spcPts val="800"/>
              </a:spcBef>
              <a:spcAft>
                <a:spcPts val="0"/>
              </a:spcAft>
              <a:buNone/>
            </a:pPr>
            <a:r>
              <a:t/>
            </a:r>
            <a:endParaRPr sz="1600">
              <a:latin typeface="Times New Roman"/>
              <a:ea typeface="Times New Roman"/>
              <a:cs typeface="Times New Roman"/>
              <a:sym typeface="Times New Roman"/>
            </a:endParaRPr>
          </a:p>
          <a:p>
            <a:pPr indent="-241300" lvl="0" marL="457200" rtl="0" algn="l">
              <a:lnSpc>
                <a:spcPct val="115000"/>
              </a:lnSpc>
              <a:spcBef>
                <a:spcPts val="800"/>
              </a:spcBef>
              <a:spcAft>
                <a:spcPts val="0"/>
              </a:spcAft>
              <a:buSzPts val="2000"/>
              <a:buFont typeface="Arial"/>
              <a:buChar char="•"/>
            </a:pPr>
            <a:r>
              <a:rPr lang="en-US" sz="1600">
                <a:latin typeface="Times New Roman"/>
                <a:ea typeface="Times New Roman"/>
                <a:cs typeface="Times New Roman"/>
                <a:sym typeface="Times New Roman"/>
              </a:rPr>
              <a:t>Regional disparities persist in real wage growth</a:t>
            </a:r>
            <a:endParaRPr sz="1600">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1abb364ef2_4_18"/>
          <p:cNvSpPr txBox="1"/>
          <p:nvPr>
            <p:ph type="title"/>
          </p:nvPr>
        </p:nvSpPr>
        <p:spPr>
          <a:xfrm>
            <a:off x="457200" y="274320"/>
            <a:ext cx="82296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990000"/>
              </a:buClr>
              <a:buSzPts val="2100"/>
              <a:buFont typeface="Arial Black"/>
              <a:buNone/>
            </a:pPr>
            <a:r>
              <a:rPr lang="en-US" sz="2000"/>
              <a:t>Policy Implications</a:t>
            </a:r>
            <a:endParaRPr sz="2000"/>
          </a:p>
        </p:txBody>
      </p:sp>
      <p:sp>
        <p:nvSpPr>
          <p:cNvPr id="177" name="Google Shape;177;g31abb364ef2_4_18"/>
          <p:cNvSpPr txBox="1"/>
          <p:nvPr>
            <p:ph idx="1" type="body"/>
          </p:nvPr>
        </p:nvSpPr>
        <p:spPr>
          <a:xfrm>
            <a:off x="457200" y="1105884"/>
            <a:ext cx="8229600" cy="3271200"/>
          </a:xfrm>
          <a:prstGeom prst="rect">
            <a:avLst/>
          </a:prstGeom>
          <a:noFill/>
          <a:ln>
            <a:noFill/>
          </a:ln>
        </p:spPr>
        <p:txBody>
          <a:bodyPr anchorCtr="0" anchor="t" bIns="34275" lIns="68575" spcFirstLastPara="1" rIns="68575" wrap="square" tIns="34275">
            <a:normAutofit/>
          </a:bodyPr>
          <a:lstStyle/>
          <a:p>
            <a:pPr indent="0" lvl="0" marL="0" rtl="0" algn="l">
              <a:lnSpc>
                <a:spcPct val="200000"/>
              </a:lnSpc>
              <a:spcBef>
                <a:spcPts val="800"/>
              </a:spcBef>
              <a:spcAft>
                <a:spcPts val="0"/>
              </a:spcAft>
              <a:buSzPts val="1800"/>
              <a:buNone/>
            </a:pPr>
            <a:r>
              <a:t/>
            </a:r>
            <a:endParaRPr sz="1400"/>
          </a:p>
          <a:p>
            <a:pPr indent="-292100" lvl="1" marL="742950" rtl="0" algn="l">
              <a:lnSpc>
                <a:spcPct val="200000"/>
              </a:lnSpc>
              <a:spcBef>
                <a:spcPts val="400"/>
              </a:spcBef>
              <a:spcAft>
                <a:spcPts val="0"/>
              </a:spcAft>
              <a:buSzPts val="1500"/>
              <a:buFont typeface="Times New Roman"/>
              <a:buChar char="•"/>
            </a:pPr>
            <a:r>
              <a:rPr lang="en-US" sz="1500">
                <a:latin typeface="Times New Roman"/>
                <a:ea typeface="Times New Roman"/>
                <a:cs typeface="Times New Roman"/>
                <a:sym typeface="Times New Roman"/>
              </a:rPr>
              <a:t>Targeted regional policies for those low-performing regions.</a:t>
            </a:r>
            <a:endParaRPr sz="1500">
              <a:latin typeface="Times New Roman"/>
              <a:ea typeface="Times New Roman"/>
              <a:cs typeface="Times New Roman"/>
              <a:sym typeface="Times New Roman"/>
            </a:endParaRPr>
          </a:p>
          <a:p>
            <a:pPr indent="-292100" lvl="1" marL="742950" rtl="0" algn="l">
              <a:lnSpc>
                <a:spcPct val="200000"/>
              </a:lnSpc>
              <a:spcBef>
                <a:spcPts val="400"/>
              </a:spcBef>
              <a:spcAft>
                <a:spcPts val="0"/>
              </a:spcAft>
              <a:buSzPts val="1500"/>
              <a:buFont typeface="Times New Roman"/>
              <a:buChar char="•"/>
            </a:pPr>
            <a:r>
              <a:rPr b="0" i="0" lang="en-US" sz="1500" u="none" strike="noStrike">
                <a:solidFill>
                  <a:schemeClr val="dk1"/>
                </a:solidFill>
                <a:latin typeface="Times New Roman"/>
                <a:ea typeface="Times New Roman"/>
                <a:cs typeface="Times New Roman"/>
                <a:sym typeface="Times New Roman"/>
              </a:rPr>
              <a:t>Modify inflation control policies to minimize </a:t>
            </a:r>
            <a:r>
              <a:rPr lang="en-US" sz="1500">
                <a:latin typeface="Times New Roman"/>
                <a:ea typeface="Times New Roman"/>
                <a:cs typeface="Times New Roman"/>
                <a:sym typeface="Times New Roman"/>
              </a:rPr>
              <a:t>the</a:t>
            </a:r>
            <a:r>
              <a:rPr b="0" i="0" lang="en-US" sz="1500" u="none" strike="noStrike">
                <a:solidFill>
                  <a:schemeClr val="dk1"/>
                </a:solidFill>
                <a:latin typeface="Times New Roman"/>
                <a:ea typeface="Times New Roman"/>
                <a:cs typeface="Times New Roman"/>
                <a:sym typeface="Times New Roman"/>
              </a:rPr>
              <a:t> impact of inflation on real wage growth.</a:t>
            </a:r>
            <a:endParaRPr sz="1500"/>
          </a:p>
          <a:p>
            <a:pPr indent="-292100" lvl="1" marL="742950" rtl="0" algn="l">
              <a:lnSpc>
                <a:spcPct val="200000"/>
              </a:lnSpc>
              <a:spcBef>
                <a:spcPts val="400"/>
              </a:spcBef>
              <a:spcAft>
                <a:spcPts val="0"/>
              </a:spcAft>
              <a:buSzPts val="1500"/>
              <a:buFont typeface="Times New Roman"/>
              <a:buChar char="•"/>
            </a:pPr>
            <a:r>
              <a:rPr b="0" i="0" lang="en-US" sz="1500" u="none" strike="noStrike">
                <a:solidFill>
                  <a:schemeClr val="dk1"/>
                </a:solidFill>
                <a:latin typeface="Times New Roman"/>
                <a:ea typeface="Times New Roman"/>
                <a:cs typeface="Times New Roman"/>
                <a:sym typeface="Times New Roman"/>
              </a:rPr>
              <a:t>Invest in regions with persistent high unemployment level to foster economic growth</a:t>
            </a:r>
            <a:r>
              <a:rPr lang="en-US" sz="1500">
                <a:solidFill>
                  <a:schemeClr val="dk1"/>
                </a:solidFill>
                <a:latin typeface="Times New Roman"/>
                <a:ea typeface="Times New Roman"/>
                <a:cs typeface="Times New Roman"/>
                <a:sym typeface="Times New Roman"/>
              </a:rPr>
              <a:t>. </a:t>
            </a:r>
            <a:endParaRPr sz="1500">
              <a:latin typeface="Times New Roman"/>
              <a:ea typeface="Times New Roman"/>
              <a:cs typeface="Times New Roman"/>
              <a:sym typeface="Times New Roman"/>
            </a:endParaRPr>
          </a:p>
          <a:p>
            <a:pPr indent="-292100" lvl="1" marL="742950" rtl="0" algn="l">
              <a:lnSpc>
                <a:spcPct val="200000"/>
              </a:lnSpc>
              <a:spcBef>
                <a:spcPts val="400"/>
              </a:spcBef>
              <a:spcAft>
                <a:spcPts val="0"/>
              </a:spcAft>
              <a:buSzPts val="1500"/>
              <a:buFont typeface="Times New Roman"/>
              <a:buChar char="•"/>
            </a:pPr>
            <a:r>
              <a:rPr lang="en-US" sz="1500">
                <a:latin typeface="Times New Roman"/>
                <a:ea typeface="Times New Roman"/>
                <a:cs typeface="Times New Roman"/>
                <a:sym typeface="Times New Roman"/>
              </a:rPr>
              <a:t>Policy coordination across levels of government</a:t>
            </a:r>
            <a:endParaRPr sz="1500">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g31b4ab3120d_0_7"/>
          <p:cNvSpPr txBox="1"/>
          <p:nvPr>
            <p:ph type="title"/>
          </p:nvPr>
        </p:nvSpPr>
        <p:spPr>
          <a:xfrm>
            <a:off x="457200" y="274320"/>
            <a:ext cx="82296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990000"/>
              </a:buClr>
              <a:buSzPts val="2100"/>
              <a:buFont typeface="Arial Black"/>
              <a:buNone/>
            </a:pPr>
            <a:r>
              <a:rPr lang="en-US" sz="2000"/>
              <a:t>Limitations of the Study</a:t>
            </a:r>
            <a:endParaRPr sz="2000"/>
          </a:p>
        </p:txBody>
      </p:sp>
      <p:sp>
        <p:nvSpPr>
          <p:cNvPr id="183" name="Google Shape;183;g31b4ab3120d_0_7"/>
          <p:cNvSpPr txBox="1"/>
          <p:nvPr>
            <p:ph idx="1" type="body"/>
          </p:nvPr>
        </p:nvSpPr>
        <p:spPr>
          <a:xfrm>
            <a:off x="352950" y="891450"/>
            <a:ext cx="8438100" cy="33606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800"/>
              </a:spcBef>
              <a:spcAft>
                <a:spcPts val="0"/>
              </a:spcAft>
              <a:buNone/>
            </a:pPr>
            <a:r>
              <a:t/>
            </a:r>
            <a:endParaRPr sz="1400">
              <a:latin typeface="Times New Roman"/>
              <a:ea typeface="Times New Roman"/>
              <a:cs typeface="Times New Roman"/>
              <a:sym typeface="Times New Roman"/>
            </a:endParaRPr>
          </a:p>
          <a:p>
            <a:pPr indent="-323850" lvl="0" marL="457200" rtl="0" algn="l">
              <a:lnSpc>
                <a:spcPct val="115000"/>
              </a:lnSpc>
              <a:spcBef>
                <a:spcPts val="800"/>
              </a:spcBef>
              <a:spcAft>
                <a:spcPts val="0"/>
              </a:spcAft>
              <a:buSzPts val="1500"/>
              <a:buFont typeface="Times New Roman"/>
              <a:buChar char="•"/>
            </a:pPr>
            <a:r>
              <a:rPr lang="en-US" sz="1500">
                <a:latin typeface="Times New Roman"/>
                <a:ea typeface="Times New Roman"/>
                <a:cs typeface="Times New Roman"/>
                <a:sym typeface="Times New Roman"/>
              </a:rPr>
              <a:t>T</a:t>
            </a:r>
            <a:r>
              <a:rPr lang="en-US" sz="1500">
                <a:latin typeface="Times New Roman"/>
                <a:ea typeface="Times New Roman"/>
                <a:cs typeface="Times New Roman"/>
                <a:sym typeface="Times New Roman"/>
              </a:rPr>
              <a:t>ime constraint and </a:t>
            </a:r>
            <a:r>
              <a:rPr lang="en-US" sz="1500">
                <a:latin typeface="Times New Roman"/>
                <a:ea typeface="Times New Roman"/>
                <a:cs typeface="Times New Roman"/>
                <a:sym typeface="Times New Roman"/>
              </a:rPr>
              <a:t>limited observations. </a:t>
            </a:r>
            <a:endParaRPr sz="1500">
              <a:latin typeface="Times New Roman"/>
              <a:ea typeface="Times New Roman"/>
              <a:cs typeface="Times New Roman"/>
              <a:sym typeface="Times New Roman"/>
            </a:endParaRPr>
          </a:p>
          <a:p>
            <a:pPr indent="-323850" lvl="1" marL="914400" rtl="0" algn="l">
              <a:lnSpc>
                <a:spcPct val="115000"/>
              </a:lnSpc>
              <a:spcBef>
                <a:spcPts val="400"/>
              </a:spcBef>
              <a:spcAft>
                <a:spcPts val="0"/>
              </a:spcAft>
              <a:buSzPts val="1500"/>
              <a:buFont typeface="Times New Roman"/>
              <a:buChar char="•"/>
            </a:pPr>
            <a:r>
              <a:rPr lang="en-US" sz="1500">
                <a:latin typeface="Times New Roman"/>
                <a:ea typeface="Times New Roman"/>
                <a:cs typeface="Times New Roman"/>
                <a:sym typeface="Times New Roman"/>
              </a:rPr>
              <a:t>Post 2020 analysis limited to a relatively short time frame, difficult to assess longer-term impacts or distinguish between temporary/permanent changes.</a:t>
            </a:r>
            <a:endParaRPr sz="1500">
              <a:latin typeface="Times New Roman"/>
              <a:ea typeface="Times New Roman"/>
              <a:cs typeface="Times New Roman"/>
              <a:sym typeface="Times New Roman"/>
            </a:endParaRPr>
          </a:p>
          <a:p>
            <a:pPr indent="0" lvl="0" marL="0" rtl="0" algn="l">
              <a:lnSpc>
                <a:spcPct val="115000"/>
              </a:lnSpc>
              <a:spcBef>
                <a:spcPts val="800"/>
              </a:spcBef>
              <a:spcAft>
                <a:spcPts val="0"/>
              </a:spcAft>
              <a:buNone/>
            </a:pPr>
            <a:r>
              <a:t/>
            </a:r>
            <a:endParaRPr sz="1500">
              <a:latin typeface="Times New Roman"/>
              <a:ea typeface="Times New Roman"/>
              <a:cs typeface="Times New Roman"/>
              <a:sym typeface="Times New Roman"/>
            </a:endParaRPr>
          </a:p>
          <a:p>
            <a:pPr indent="-323850" lvl="0" marL="457200" rtl="0" algn="l">
              <a:lnSpc>
                <a:spcPct val="115000"/>
              </a:lnSpc>
              <a:spcBef>
                <a:spcPts val="800"/>
              </a:spcBef>
              <a:spcAft>
                <a:spcPts val="0"/>
              </a:spcAft>
              <a:buSzPts val="1500"/>
              <a:buFont typeface="Times New Roman"/>
              <a:buChar char="•"/>
            </a:pPr>
            <a:r>
              <a:rPr lang="en-US" sz="1500">
                <a:latin typeface="Times New Roman"/>
                <a:ea typeface="Times New Roman"/>
                <a:cs typeface="Times New Roman"/>
                <a:sym typeface="Times New Roman"/>
              </a:rPr>
              <a:t>Lack of explanation for the regional disparities (e.g., regional economic structures, dominant industries, policy environments, immigration)</a:t>
            </a:r>
            <a:endParaRPr sz="1500">
              <a:latin typeface="Times New Roman"/>
              <a:ea typeface="Times New Roman"/>
              <a:cs typeface="Times New Roman"/>
              <a:sym typeface="Times New Roman"/>
            </a:endParaRPr>
          </a:p>
          <a:p>
            <a:pPr indent="0" lvl="0" marL="457200" rtl="0" algn="l">
              <a:lnSpc>
                <a:spcPct val="115000"/>
              </a:lnSpc>
              <a:spcBef>
                <a:spcPts val="800"/>
              </a:spcBef>
              <a:spcAft>
                <a:spcPts val="0"/>
              </a:spcAft>
              <a:buNone/>
            </a:pPr>
            <a:r>
              <a:t/>
            </a:r>
            <a:endParaRPr sz="1500">
              <a:latin typeface="Times New Roman"/>
              <a:ea typeface="Times New Roman"/>
              <a:cs typeface="Times New Roman"/>
              <a:sym typeface="Times New Roman"/>
            </a:endParaRPr>
          </a:p>
          <a:p>
            <a:pPr indent="-323850" lvl="0" marL="457200" rtl="0" algn="l">
              <a:lnSpc>
                <a:spcPct val="115000"/>
              </a:lnSpc>
              <a:spcBef>
                <a:spcPts val="800"/>
              </a:spcBef>
              <a:spcAft>
                <a:spcPts val="0"/>
              </a:spcAft>
              <a:buSzPts val="1500"/>
              <a:buFont typeface="Times New Roman"/>
              <a:buChar char="•"/>
            </a:pPr>
            <a:r>
              <a:rPr lang="en-US" sz="1500">
                <a:latin typeface="Times New Roman"/>
                <a:ea typeface="Times New Roman"/>
                <a:cs typeface="Times New Roman"/>
                <a:sym typeface="Times New Roman"/>
              </a:rPr>
              <a:t>E</a:t>
            </a:r>
            <a:r>
              <a:rPr lang="en-US" sz="1500">
                <a:latin typeface="Times New Roman"/>
                <a:ea typeface="Times New Roman"/>
                <a:cs typeface="Times New Roman"/>
                <a:sym typeface="Times New Roman"/>
              </a:rPr>
              <a:t>conomic structure variability</a:t>
            </a:r>
            <a:endParaRPr sz="1500">
              <a:latin typeface="Times New Roman"/>
              <a:ea typeface="Times New Roman"/>
              <a:cs typeface="Times New Roman"/>
              <a:sym typeface="Times New Roman"/>
            </a:endParaRPr>
          </a:p>
          <a:p>
            <a:pPr indent="0" lvl="0" marL="457200" rtl="0" algn="l">
              <a:lnSpc>
                <a:spcPct val="115000"/>
              </a:lnSpc>
              <a:spcBef>
                <a:spcPts val="800"/>
              </a:spcBef>
              <a:spcAft>
                <a:spcPts val="0"/>
              </a:spcAft>
              <a:buNone/>
            </a:pPr>
            <a:r>
              <a:t/>
            </a:r>
            <a:endParaRPr sz="1500">
              <a:latin typeface="Times New Roman"/>
              <a:ea typeface="Times New Roman"/>
              <a:cs typeface="Times New Roman"/>
              <a:sym typeface="Times New Roman"/>
            </a:endParaRPr>
          </a:p>
          <a:p>
            <a:pPr indent="-323850" lvl="0" marL="457200" rtl="0" algn="l">
              <a:lnSpc>
                <a:spcPct val="115000"/>
              </a:lnSpc>
              <a:spcBef>
                <a:spcPts val="800"/>
              </a:spcBef>
              <a:spcAft>
                <a:spcPts val="0"/>
              </a:spcAft>
              <a:buSzPts val="1500"/>
              <a:buFont typeface="Times New Roman"/>
              <a:buChar char="•"/>
            </a:pPr>
            <a:r>
              <a:rPr lang="en-US" sz="1500">
                <a:latin typeface="Times New Roman"/>
                <a:ea typeface="Times New Roman"/>
                <a:cs typeface="Times New Roman"/>
                <a:sym typeface="Times New Roman"/>
              </a:rPr>
              <a:t>Exclusion</a:t>
            </a:r>
            <a:r>
              <a:rPr lang="en-US" sz="1500">
                <a:latin typeface="Times New Roman"/>
                <a:ea typeface="Times New Roman"/>
                <a:cs typeface="Times New Roman"/>
                <a:sym typeface="Times New Roman"/>
              </a:rPr>
              <a:t> of non-monetary compensation (e.g. </a:t>
            </a:r>
            <a:r>
              <a:rPr lang="en-US" sz="1500">
                <a:latin typeface="Times New Roman"/>
                <a:ea typeface="Times New Roman"/>
                <a:cs typeface="Times New Roman"/>
                <a:sym typeface="Times New Roman"/>
              </a:rPr>
              <a:t>healthcare, pensions)</a:t>
            </a:r>
            <a:endParaRPr sz="1500">
              <a:latin typeface="Times New Roman"/>
              <a:ea typeface="Times New Roman"/>
              <a:cs typeface="Times New Roman"/>
              <a:sym typeface="Times New Roman"/>
            </a:endParaRPr>
          </a:p>
          <a:p>
            <a:pPr indent="0" lvl="0" marL="457200" rtl="0" algn="l">
              <a:lnSpc>
                <a:spcPct val="115000"/>
              </a:lnSpc>
              <a:spcBef>
                <a:spcPts val="800"/>
              </a:spcBef>
              <a:spcAft>
                <a:spcPts val="0"/>
              </a:spcAft>
              <a:buNone/>
            </a:pPr>
            <a:r>
              <a:t/>
            </a:r>
            <a:endParaRPr sz="1500">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1b4ab3120d_0_12"/>
          <p:cNvSpPr txBox="1"/>
          <p:nvPr>
            <p:ph type="title"/>
          </p:nvPr>
        </p:nvSpPr>
        <p:spPr>
          <a:xfrm>
            <a:off x="457200" y="274320"/>
            <a:ext cx="82296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990000"/>
              </a:buClr>
              <a:buSzPts val="2100"/>
              <a:buFont typeface="Arial Black"/>
              <a:buNone/>
            </a:pPr>
            <a:r>
              <a:rPr lang="en-US" sz="2000"/>
              <a:t>Next Steps</a:t>
            </a:r>
            <a:endParaRPr sz="2000"/>
          </a:p>
        </p:txBody>
      </p:sp>
      <p:sp>
        <p:nvSpPr>
          <p:cNvPr id="189" name="Google Shape;189;g31b4ab3120d_0_12"/>
          <p:cNvSpPr txBox="1"/>
          <p:nvPr>
            <p:ph idx="1" type="body"/>
          </p:nvPr>
        </p:nvSpPr>
        <p:spPr>
          <a:xfrm>
            <a:off x="457200" y="1130350"/>
            <a:ext cx="8438100" cy="3360600"/>
          </a:xfrm>
          <a:prstGeom prst="rect">
            <a:avLst/>
          </a:prstGeom>
          <a:noFill/>
          <a:ln>
            <a:noFill/>
          </a:ln>
        </p:spPr>
        <p:txBody>
          <a:bodyPr anchorCtr="0" anchor="t" bIns="34275" lIns="68575" spcFirstLastPara="1" rIns="68575" wrap="square" tIns="34275">
            <a:noAutofit/>
          </a:bodyPr>
          <a:lstStyle/>
          <a:p>
            <a:pPr indent="-323850" lvl="0" marL="457200" rtl="0" algn="l">
              <a:lnSpc>
                <a:spcPct val="115000"/>
              </a:lnSpc>
              <a:spcBef>
                <a:spcPts val="800"/>
              </a:spcBef>
              <a:spcAft>
                <a:spcPts val="0"/>
              </a:spcAft>
              <a:buSzPts val="1500"/>
              <a:buFont typeface="Times New Roman"/>
              <a:buChar char="•"/>
            </a:pPr>
            <a:r>
              <a:rPr lang="en-US" sz="1500">
                <a:latin typeface="Times New Roman"/>
                <a:ea typeface="Times New Roman"/>
                <a:cs typeface="Times New Roman"/>
                <a:sym typeface="Times New Roman"/>
              </a:rPr>
              <a:t>C</a:t>
            </a:r>
            <a:r>
              <a:rPr lang="en-US" sz="1500">
                <a:latin typeface="Times New Roman"/>
                <a:ea typeface="Times New Roman"/>
                <a:cs typeface="Times New Roman"/>
                <a:sym typeface="Times New Roman"/>
              </a:rPr>
              <a:t>ontinue refining the model by adding more macroeconomic variables (income differences between regions, economic structures variables), incorporate more data, make deeper analysis of regional disparities and the post-2020 study.</a:t>
            </a:r>
            <a:endParaRPr sz="1500">
              <a:latin typeface="Times New Roman"/>
              <a:ea typeface="Times New Roman"/>
              <a:cs typeface="Times New Roman"/>
              <a:sym typeface="Times New Roman"/>
            </a:endParaRPr>
          </a:p>
          <a:p>
            <a:pPr indent="0" lvl="0" marL="457200" rtl="0" algn="l">
              <a:lnSpc>
                <a:spcPct val="115000"/>
              </a:lnSpc>
              <a:spcBef>
                <a:spcPts val="800"/>
              </a:spcBef>
              <a:spcAft>
                <a:spcPts val="0"/>
              </a:spcAft>
              <a:buNone/>
            </a:pPr>
            <a:r>
              <a:t/>
            </a:r>
            <a:endParaRPr sz="1500">
              <a:latin typeface="Times New Roman"/>
              <a:ea typeface="Times New Roman"/>
              <a:cs typeface="Times New Roman"/>
              <a:sym typeface="Times New Roman"/>
            </a:endParaRPr>
          </a:p>
          <a:p>
            <a:pPr indent="-323850" lvl="0" marL="457200" rtl="0" algn="l">
              <a:lnSpc>
                <a:spcPct val="115000"/>
              </a:lnSpc>
              <a:spcBef>
                <a:spcPts val="800"/>
              </a:spcBef>
              <a:spcAft>
                <a:spcPts val="0"/>
              </a:spcAft>
              <a:buSzPts val="1500"/>
              <a:buFont typeface="Times New Roman"/>
              <a:buChar char="•"/>
            </a:pPr>
            <a:r>
              <a:rPr lang="en-US" sz="1500">
                <a:latin typeface="Times New Roman"/>
                <a:ea typeface="Times New Roman"/>
                <a:cs typeface="Times New Roman"/>
                <a:sym typeface="Times New Roman"/>
              </a:rPr>
              <a:t>Find sectoral impacts. examine how inflation and wage dynamics differ across industries within regions to refine policy recommendations further.</a:t>
            </a:r>
            <a:endParaRPr sz="1500">
              <a:latin typeface="Times New Roman"/>
              <a:ea typeface="Times New Roman"/>
              <a:cs typeface="Times New Roman"/>
              <a:sym typeface="Times New Roman"/>
            </a:endParaRPr>
          </a:p>
          <a:p>
            <a:pPr indent="0" lvl="0" marL="457200" rtl="0" algn="l">
              <a:lnSpc>
                <a:spcPct val="115000"/>
              </a:lnSpc>
              <a:spcBef>
                <a:spcPts val="800"/>
              </a:spcBef>
              <a:spcAft>
                <a:spcPts val="0"/>
              </a:spcAft>
              <a:buNone/>
            </a:pPr>
            <a:r>
              <a:t/>
            </a:r>
            <a:endParaRPr sz="1500">
              <a:latin typeface="Times New Roman"/>
              <a:ea typeface="Times New Roman"/>
              <a:cs typeface="Times New Roman"/>
              <a:sym typeface="Times New Roman"/>
            </a:endParaRPr>
          </a:p>
          <a:p>
            <a:pPr indent="-323850" lvl="0" marL="457200" rtl="0" algn="l">
              <a:lnSpc>
                <a:spcPct val="115000"/>
              </a:lnSpc>
              <a:spcBef>
                <a:spcPts val="800"/>
              </a:spcBef>
              <a:spcAft>
                <a:spcPts val="0"/>
              </a:spcAft>
              <a:buSzPts val="1500"/>
              <a:buFont typeface="Times New Roman"/>
              <a:buChar char="•"/>
            </a:pPr>
            <a:r>
              <a:rPr lang="en-US" sz="1500">
                <a:latin typeface="Times New Roman"/>
                <a:ea typeface="Times New Roman"/>
                <a:cs typeface="Times New Roman"/>
                <a:sym typeface="Times New Roman"/>
              </a:rPr>
              <a:t>Study the long-term consequences of inflation on wage growth and employment trends to guide sustained policy interventions.</a:t>
            </a:r>
            <a:endParaRPr sz="1500">
              <a:latin typeface="Times New Roman"/>
              <a:ea typeface="Times New Roman"/>
              <a:cs typeface="Times New Roman"/>
              <a:sym typeface="Times New Roman"/>
            </a:endParaRPr>
          </a:p>
          <a:p>
            <a:pPr indent="0" lvl="0" marL="0" rtl="0" algn="l">
              <a:lnSpc>
                <a:spcPct val="115000"/>
              </a:lnSpc>
              <a:spcBef>
                <a:spcPts val="800"/>
              </a:spcBef>
              <a:spcAft>
                <a:spcPts val="0"/>
              </a:spcAft>
              <a:buNone/>
            </a:pPr>
            <a:r>
              <a:t/>
            </a:r>
            <a:endParaRPr sz="1500">
              <a:latin typeface="Times New Roman"/>
              <a:ea typeface="Times New Roman"/>
              <a:cs typeface="Times New Roman"/>
              <a:sym typeface="Times New Roman"/>
            </a:endParaRPr>
          </a:p>
          <a:p>
            <a:pPr indent="0" lvl="0" marL="0" rtl="0" algn="l">
              <a:lnSpc>
                <a:spcPct val="115000"/>
              </a:lnSpc>
              <a:spcBef>
                <a:spcPts val="800"/>
              </a:spcBef>
              <a:spcAft>
                <a:spcPts val="0"/>
              </a:spcAft>
              <a:buNone/>
            </a:pPr>
            <a:r>
              <a:t/>
            </a:r>
            <a:endParaRPr sz="1500">
              <a:latin typeface="Times New Roman"/>
              <a:ea typeface="Times New Roman"/>
              <a:cs typeface="Times New Roman"/>
              <a:sym typeface="Times New Roman"/>
            </a:endParaRPr>
          </a:p>
          <a:p>
            <a:pPr indent="0" lvl="0" marL="457200" rtl="0" algn="l">
              <a:lnSpc>
                <a:spcPct val="115000"/>
              </a:lnSpc>
              <a:spcBef>
                <a:spcPts val="800"/>
              </a:spcBef>
              <a:spcAft>
                <a:spcPts val="0"/>
              </a:spcAft>
              <a:buNone/>
            </a:pPr>
            <a:r>
              <a:t/>
            </a:r>
            <a:endParaRPr sz="1400">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41"/>
          <p:cNvSpPr txBox="1"/>
          <p:nvPr>
            <p:ph type="title"/>
          </p:nvPr>
        </p:nvSpPr>
        <p:spPr>
          <a:xfrm>
            <a:off x="459486" y="274320"/>
            <a:ext cx="82296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990000"/>
              </a:buClr>
              <a:buSzPts val="2100"/>
              <a:buFont typeface="Arial Black"/>
              <a:buNone/>
            </a:pPr>
            <a:r>
              <a:rPr lang="en-US"/>
              <a:t>References </a:t>
            </a:r>
            <a:endParaRPr/>
          </a:p>
        </p:txBody>
      </p:sp>
      <p:sp>
        <p:nvSpPr>
          <p:cNvPr id="195" name="Google Shape;195;p41"/>
          <p:cNvSpPr txBox="1"/>
          <p:nvPr>
            <p:ph idx="2" type="body"/>
          </p:nvPr>
        </p:nvSpPr>
        <p:spPr>
          <a:xfrm>
            <a:off x="459466" y="1369225"/>
            <a:ext cx="7619400" cy="3263400"/>
          </a:xfrm>
          <a:prstGeom prst="rect">
            <a:avLst/>
          </a:prstGeom>
          <a:noFill/>
          <a:ln>
            <a:noFill/>
          </a:ln>
        </p:spPr>
        <p:txBody>
          <a:bodyPr anchorCtr="0" anchor="t" bIns="34275" lIns="68575" spcFirstLastPara="1" rIns="68575" wrap="square" tIns="34275">
            <a:normAutofit/>
          </a:bodyPr>
          <a:lstStyle/>
          <a:p>
            <a:pPr indent="0" lvl="0" marL="0" rtl="0" algn="l">
              <a:lnSpc>
                <a:spcPct val="200000"/>
              </a:lnSpc>
              <a:spcBef>
                <a:spcPts val="0"/>
              </a:spcBef>
              <a:spcAft>
                <a:spcPts val="0"/>
              </a:spcAft>
              <a:buClr>
                <a:schemeClr val="dk1"/>
              </a:buClr>
              <a:buSzPts val="1100"/>
              <a:buFont typeface="Arial"/>
              <a:buNone/>
            </a:pPr>
            <a:r>
              <a:rPr lang="en-US" sz="1200" u="sng">
                <a:solidFill>
                  <a:srgbClr val="1155CC"/>
                </a:solidFill>
                <a:latin typeface="Times New Roman"/>
                <a:ea typeface="Times New Roman"/>
                <a:cs typeface="Times New Roman"/>
                <a:sym typeface="Times New Roman"/>
                <a:hlinkClick r:id="rId3">
                  <a:extLst>
                    <a:ext uri="{A12FA001-AC4F-418D-AE19-62706E023703}">
                      <ahyp:hlinkClr val="tx"/>
                    </a:ext>
                  </a:extLst>
                </a:hlinkClick>
              </a:rPr>
              <a:t>https://www.statista.com/statistics/1351276/wage-growth-vs-inflation-us/</a:t>
            </a:r>
            <a:endParaRPr sz="1200" u="sng">
              <a:solidFill>
                <a:srgbClr val="1155CC"/>
              </a:solidFill>
              <a:latin typeface="Times New Roman"/>
              <a:ea typeface="Times New Roman"/>
              <a:cs typeface="Times New Roman"/>
              <a:sym typeface="Times New Roman"/>
            </a:endParaRPr>
          </a:p>
          <a:p>
            <a:pPr indent="0" lvl="0" marL="0" rtl="0" algn="l">
              <a:lnSpc>
                <a:spcPct val="200000"/>
              </a:lnSpc>
              <a:spcBef>
                <a:spcPts val="0"/>
              </a:spcBef>
              <a:spcAft>
                <a:spcPts val="0"/>
              </a:spcAft>
              <a:buClr>
                <a:schemeClr val="dk1"/>
              </a:buClr>
              <a:buSzPts val="1100"/>
              <a:buFont typeface="Arial"/>
              <a:buNone/>
            </a:pPr>
            <a:r>
              <a:rPr lang="en-US" sz="1200" u="sng">
                <a:solidFill>
                  <a:srgbClr val="1155CC"/>
                </a:solidFill>
                <a:latin typeface="Times New Roman"/>
                <a:ea typeface="Times New Roman"/>
                <a:cs typeface="Times New Roman"/>
                <a:sym typeface="Times New Roman"/>
                <a:hlinkClick r:id="rId4">
                  <a:extLst>
                    <a:ext uri="{A12FA001-AC4F-418D-AE19-62706E023703}">
                      <ahyp:hlinkClr val="tx"/>
                    </a:ext>
                  </a:extLst>
                </a:hlinkClick>
              </a:rPr>
              <a:t>https://data.bls.gov/dataViewer/view/timeseries/CUSR0000SA0</a:t>
            </a:r>
            <a:endParaRPr sz="1200" u="sng">
              <a:solidFill>
                <a:srgbClr val="1155CC"/>
              </a:solidFill>
              <a:latin typeface="Times New Roman"/>
              <a:ea typeface="Times New Roman"/>
              <a:cs typeface="Times New Roman"/>
              <a:sym typeface="Times New Roman"/>
            </a:endParaRPr>
          </a:p>
          <a:p>
            <a:pPr indent="0" lvl="0" marL="0" rtl="0" algn="l">
              <a:lnSpc>
                <a:spcPct val="200000"/>
              </a:lnSpc>
              <a:spcBef>
                <a:spcPts val="0"/>
              </a:spcBef>
              <a:spcAft>
                <a:spcPts val="0"/>
              </a:spcAft>
              <a:buClr>
                <a:schemeClr val="dk1"/>
              </a:buClr>
              <a:buSzPts val="1100"/>
              <a:buFont typeface="Arial"/>
              <a:buNone/>
            </a:pPr>
            <a:r>
              <a:rPr lang="en-US" sz="1200" u="sng">
                <a:solidFill>
                  <a:srgbClr val="1155CC"/>
                </a:solidFill>
                <a:latin typeface="Times New Roman"/>
                <a:ea typeface="Times New Roman"/>
                <a:cs typeface="Times New Roman"/>
                <a:sym typeface="Times New Roman"/>
                <a:hlinkClick r:id="rId5">
                  <a:extLst>
                    <a:ext uri="{A12FA001-AC4F-418D-AE19-62706E023703}">
                      <ahyp:hlinkClr val="tx"/>
                    </a:ext>
                  </a:extLst>
                </a:hlinkClick>
              </a:rPr>
              <a:t>https://www.atlantafed.org/chcs/wage-growth-tracker</a:t>
            </a:r>
            <a:endParaRPr sz="1200">
              <a:latin typeface="Times New Roman"/>
              <a:ea typeface="Times New Roman"/>
              <a:cs typeface="Times New Roman"/>
              <a:sym typeface="Times New Roman"/>
            </a:endParaRPr>
          </a:p>
          <a:p>
            <a:pPr indent="0" lvl="0" marL="0" rtl="0" algn="l">
              <a:lnSpc>
                <a:spcPct val="200000"/>
              </a:lnSpc>
              <a:spcBef>
                <a:spcPts val="0"/>
              </a:spcBef>
              <a:spcAft>
                <a:spcPts val="0"/>
              </a:spcAft>
              <a:buClr>
                <a:schemeClr val="dk1"/>
              </a:buClr>
              <a:buSzPts val="1100"/>
              <a:buFont typeface="Arial"/>
              <a:buNone/>
            </a:pPr>
            <a:r>
              <a:rPr lang="en-US" sz="1200" u="sng">
                <a:solidFill>
                  <a:srgbClr val="1155CC"/>
                </a:solidFill>
                <a:latin typeface="Times New Roman"/>
                <a:ea typeface="Times New Roman"/>
                <a:cs typeface="Times New Roman"/>
                <a:sym typeface="Times New Roman"/>
                <a:hlinkClick r:id="rId6">
                  <a:extLst>
                    <a:ext uri="{A12FA001-AC4F-418D-AE19-62706E023703}">
                      <ahyp:hlinkClr val="tx"/>
                    </a:ext>
                  </a:extLst>
                </a:hlinkClick>
              </a:rPr>
              <a:t>https://fred.stlouisfed.org/series/POPTHM</a:t>
            </a:r>
            <a:endParaRPr sz="1200">
              <a:latin typeface="Times New Roman"/>
              <a:ea typeface="Times New Roman"/>
              <a:cs typeface="Times New Roman"/>
              <a:sym typeface="Times New Roman"/>
            </a:endParaRPr>
          </a:p>
          <a:p>
            <a:pPr indent="0" lvl="0" marL="0" rtl="0" algn="l">
              <a:lnSpc>
                <a:spcPct val="200000"/>
              </a:lnSpc>
              <a:spcBef>
                <a:spcPts val="0"/>
              </a:spcBef>
              <a:spcAft>
                <a:spcPts val="0"/>
              </a:spcAft>
              <a:buClr>
                <a:schemeClr val="dk1"/>
              </a:buClr>
              <a:buSzPts val="1100"/>
              <a:buNone/>
            </a:pPr>
            <a:r>
              <a:rPr lang="en-US" sz="1200" u="sng">
                <a:solidFill>
                  <a:srgbClr val="1155CC"/>
                </a:solidFill>
                <a:latin typeface="Times New Roman"/>
                <a:ea typeface="Times New Roman"/>
                <a:cs typeface="Times New Roman"/>
                <a:sym typeface="Times New Roman"/>
                <a:hlinkClick r:id="rId7">
                  <a:extLst>
                    <a:ext uri="{A12FA001-AC4F-418D-AE19-62706E023703}">
                      <ahyp:hlinkClr val="tx"/>
                    </a:ext>
                  </a:extLst>
                </a:hlinkClick>
              </a:rPr>
              <a:t>https://www.spglobal.com/marketintelligence/en/mi/products/us-monthly-gdp-index.html#:~:text=We%20calculate%20the%20MGDP%20in,our%20archives%20of%20the%20MGDP</a:t>
            </a:r>
            <a:r>
              <a:rPr lang="en-US" sz="1200">
                <a:latin typeface="Times New Roman"/>
                <a:ea typeface="Times New Roman"/>
                <a:cs typeface="Times New Roman"/>
                <a:sym typeface="Times New Roman"/>
              </a:rPr>
              <a:t>.</a:t>
            </a:r>
            <a:endParaRPr sz="1200">
              <a:latin typeface="Times New Roman"/>
              <a:ea typeface="Times New Roman"/>
              <a:cs typeface="Times New Roman"/>
              <a:sym typeface="Times New Roman"/>
            </a:endParaRPr>
          </a:p>
          <a:p>
            <a:pPr indent="0" lvl="0" marL="0" rtl="0" algn="l">
              <a:lnSpc>
                <a:spcPct val="200000"/>
              </a:lnSpc>
              <a:spcBef>
                <a:spcPts val="0"/>
              </a:spcBef>
              <a:spcAft>
                <a:spcPts val="0"/>
              </a:spcAft>
              <a:buClr>
                <a:schemeClr val="dk1"/>
              </a:buClr>
              <a:buSzPts val="1100"/>
              <a:buNone/>
            </a:pPr>
            <a:r>
              <a:rPr lang="en-US" sz="1200" u="sng">
                <a:solidFill>
                  <a:schemeClr val="hlink"/>
                </a:solidFill>
                <a:latin typeface="Times New Roman"/>
                <a:ea typeface="Times New Roman"/>
                <a:cs typeface="Times New Roman"/>
                <a:sym typeface="Times New Roman"/>
                <a:hlinkClick r:id="rId8"/>
              </a:rPr>
              <a:t>https://www.bls.gov/opub/mlr/2023/beyond-bls/what-caused-inflation-to-spike-after-2020.htm</a:t>
            </a:r>
            <a:endParaRPr sz="1200">
              <a:latin typeface="Times New Roman"/>
              <a:ea typeface="Times New Roman"/>
              <a:cs typeface="Times New Roman"/>
              <a:sym typeface="Times New Roman"/>
            </a:endParaRPr>
          </a:p>
          <a:p>
            <a:pPr indent="0" lvl="0" marL="0" rtl="0" algn="l">
              <a:lnSpc>
                <a:spcPct val="200000"/>
              </a:lnSpc>
              <a:spcBef>
                <a:spcPts val="0"/>
              </a:spcBef>
              <a:spcAft>
                <a:spcPts val="0"/>
              </a:spcAft>
              <a:buClr>
                <a:schemeClr val="dk1"/>
              </a:buClr>
              <a:buSzPts val="1100"/>
              <a:buNone/>
            </a:pPr>
            <a:r>
              <a:rPr lang="en-US" sz="1200" u="sng">
                <a:solidFill>
                  <a:schemeClr val="hlink"/>
                </a:solidFill>
                <a:latin typeface="Times New Roman"/>
                <a:ea typeface="Times New Roman"/>
                <a:cs typeface="Times New Roman"/>
                <a:sym typeface="Times New Roman"/>
                <a:hlinkClick r:id="rId9"/>
              </a:rPr>
              <a:t>https://www.bls.gov/cpi/</a:t>
            </a:r>
            <a:endParaRPr sz="1200">
              <a:latin typeface="Times New Roman"/>
              <a:ea typeface="Times New Roman"/>
              <a:cs typeface="Times New Roman"/>
              <a:sym typeface="Times New Roman"/>
            </a:endParaRPr>
          </a:p>
          <a:p>
            <a:pPr indent="0" lvl="0" marL="0" rtl="0" algn="l">
              <a:lnSpc>
                <a:spcPct val="200000"/>
              </a:lnSpc>
              <a:spcBef>
                <a:spcPts val="0"/>
              </a:spcBef>
              <a:spcAft>
                <a:spcPts val="0"/>
              </a:spcAft>
              <a:buClr>
                <a:schemeClr val="dk1"/>
              </a:buClr>
              <a:buSzPts val="1100"/>
              <a:buNone/>
            </a:pPr>
            <a:r>
              <a:rPr lang="en-US" sz="1200" u="sng">
                <a:solidFill>
                  <a:schemeClr val="hlink"/>
                </a:solidFill>
                <a:latin typeface="Times New Roman"/>
                <a:ea typeface="Times New Roman"/>
                <a:cs typeface="Times New Roman"/>
                <a:sym typeface="Times New Roman"/>
                <a:hlinkClick r:id="rId10"/>
              </a:rPr>
              <a:t>https://www.ilo.org/resource/news/rising-inflation-brings-striking-fall-real-wages-ilo-report-finds</a:t>
            </a:r>
            <a:endParaRPr sz="1200">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42"/>
          <p:cNvSpPr txBox="1"/>
          <p:nvPr>
            <p:ph type="title"/>
          </p:nvPr>
        </p:nvSpPr>
        <p:spPr>
          <a:xfrm>
            <a:off x="459486" y="274320"/>
            <a:ext cx="82296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990000"/>
              </a:buClr>
              <a:buSzPts val="2100"/>
              <a:buFont typeface="Arial Black"/>
              <a:buNone/>
            </a:pPr>
            <a:r>
              <a:rPr lang="en-US"/>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Custom 22">
      <a:dk1>
        <a:srgbClr val="990000"/>
      </a:dk1>
      <a:lt1>
        <a:srgbClr val="FFCC0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USC Powerpoint Template - Whit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